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0" autoAdjust="0"/>
    <p:restoredTop sz="94660"/>
  </p:normalViewPr>
  <p:slideViewPr>
    <p:cSldViewPr snapToGrid="0">
      <p:cViewPr varScale="1">
        <p:scale>
          <a:sx n="89" d="100"/>
          <a:sy n="89" d="100"/>
        </p:scale>
        <p:origin x="51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7980-ED44-446C-B1D2-CEF9B4AA76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12D6F-5360-42C1-9823-808EBAB5C9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97980-ED44-446C-B1D2-CEF9B4AA76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12D6F-5360-42C1-9823-808EBAB5C9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98917" y="207627"/>
            <a:ext cx="9144000" cy="1478298"/>
          </a:xfrm>
        </p:spPr>
        <p:txBody>
          <a:bodyPr/>
          <a:lstStyle/>
          <a:p>
            <a:r>
              <a:rPr lang="en-US" altLang="zh-CN" b="1" dirty="0" err="1"/>
              <a:t>最优方案全链条处理流程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613535" y="2094230"/>
            <a:ext cx="8590915" cy="3114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800" dirty="0" err="1"/>
              <a:t>最优方案线上</a:t>
            </a:r>
            <a:r>
              <a:rPr lang="en-US" altLang="zh-CN" sz="2800" dirty="0"/>
              <a:t> </a:t>
            </a:r>
            <a:r>
              <a:rPr lang="en-US" altLang="zh-CN" sz="2800" dirty="0" err="1"/>
              <a:t>mIoU</a:t>
            </a:r>
            <a:r>
              <a:rPr lang="en-US" altLang="zh-CN" sz="2800" dirty="0"/>
              <a:t> = 69.2813。整个系统分成两大部分：</a:t>
            </a:r>
            <a:endParaRPr lang="zh-CN" altLang="zh-CN" sz="2800" dirty="0"/>
          </a:p>
          <a:p>
            <a:pPr lvl="0"/>
            <a:r>
              <a:rPr lang="en-US" altLang="zh-CN" sz="2800" dirty="0"/>
              <a:t>① </a:t>
            </a:r>
            <a:r>
              <a:rPr lang="en-US" altLang="zh-CN" sz="2800" dirty="0" err="1"/>
              <a:t>训练阶段：用</a:t>
            </a:r>
            <a:r>
              <a:rPr lang="en-US" altLang="zh-CN" sz="2800" dirty="0"/>
              <a:t> 6996 </a:t>
            </a:r>
            <a:r>
              <a:rPr lang="en-US" altLang="zh-CN" sz="2800" dirty="0" err="1"/>
              <a:t>张带标注训练图训练一个分割模型</a:t>
            </a:r>
            <a:endParaRPr lang="zh-CN" altLang="zh-CN" sz="2800" dirty="0"/>
          </a:p>
          <a:p>
            <a:pPr lvl="0"/>
            <a:r>
              <a:rPr lang="en-US" altLang="zh-CN" sz="2800" dirty="0"/>
              <a:t>② </a:t>
            </a:r>
            <a:r>
              <a:rPr lang="en-US" altLang="zh-CN" sz="2800" dirty="0" err="1"/>
              <a:t>推理阶段：对</a:t>
            </a:r>
            <a:r>
              <a:rPr lang="en-US" altLang="zh-CN" sz="2800" dirty="0"/>
              <a:t> 1 </a:t>
            </a:r>
            <a:r>
              <a:rPr lang="en-US" altLang="zh-CN" sz="2800" dirty="0" err="1"/>
              <a:t>张测试图，经过预处理→模型→TTA→校准，输出最终</a:t>
            </a:r>
            <a:r>
              <a:rPr lang="en-US" altLang="zh-CN" sz="2800" dirty="0"/>
              <a:t> 8 </a:t>
            </a:r>
            <a:r>
              <a:rPr lang="en-US" altLang="zh-CN" sz="2800" dirty="0" err="1"/>
              <a:t>类分割图</a:t>
            </a:r>
            <a:endParaRPr lang="zh-CN" altLang="zh-CN" sz="2800" dirty="0"/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2397"/>
            <a:ext cx="5621767" cy="920414"/>
          </a:xfrm>
        </p:spPr>
        <p:txBody>
          <a:bodyPr>
            <a:normAutofit/>
          </a:bodyPr>
          <a:lstStyle/>
          <a:p>
            <a:r>
              <a:rPr lang="zh-CN" altLang="zh-CN" sz="2800" dirty="0"/>
              <a:t>第一部分：训练阶段（训练出模型）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2428" y="806823"/>
            <a:ext cx="10751372" cy="1446904"/>
          </a:xfrm>
        </p:spPr>
        <p:txBody>
          <a:bodyPr/>
          <a:lstStyle/>
          <a:p>
            <a:pPr marL="0" indent="0">
              <a:buNone/>
            </a:pPr>
            <a:r>
              <a:rPr lang="en-US" altLang="zh-CN" b="1" dirty="0" err="1"/>
              <a:t>第一步：数据进入</a:t>
            </a:r>
            <a:endParaRPr lang="zh-CN" altLang="zh-CN" b="1" dirty="0"/>
          </a:p>
          <a:p>
            <a:pPr marL="0" lvl="0" indent="0">
              <a:buNone/>
            </a:pPr>
            <a:r>
              <a:rPr lang="zh-CN" altLang="zh-CN" sz="2400" dirty="0"/>
              <a:t>输入：</a:t>
            </a:r>
            <a:r>
              <a:rPr lang="en-US" altLang="zh-CN" sz="2400" dirty="0"/>
              <a:t>6996 </a:t>
            </a:r>
            <a:r>
              <a:rPr lang="zh-CN" altLang="zh-CN" sz="2400" dirty="0"/>
              <a:t>张</a:t>
            </a:r>
            <a:r>
              <a:rPr lang="en-US" altLang="zh-CN" sz="2400" dirty="0"/>
              <a:t> 1024×1024 </a:t>
            </a:r>
            <a:r>
              <a:rPr lang="zh-CN" altLang="zh-CN" sz="2400" dirty="0"/>
              <a:t>训练航拍图</a:t>
            </a:r>
            <a:r>
              <a:rPr lang="en-US" altLang="zh-CN" sz="2400" dirty="0"/>
              <a:t> + </a:t>
            </a:r>
            <a:r>
              <a:rPr lang="zh-CN" altLang="zh-CN" sz="2400" dirty="0"/>
              <a:t>对应</a:t>
            </a:r>
            <a:r>
              <a:rPr lang="en-US" altLang="zh-CN" sz="2400" dirty="0"/>
              <a:t> 8 </a:t>
            </a:r>
            <a:r>
              <a:rPr lang="zh-CN" altLang="zh-CN" sz="2400" dirty="0"/>
              <a:t>类标注图</a:t>
            </a:r>
            <a:endParaRPr lang="zh-CN" altLang="zh-CN" sz="2400" dirty="0"/>
          </a:p>
          <a:p>
            <a:pPr marL="0" lvl="0" indent="0">
              <a:buNone/>
            </a:pPr>
            <a:r>
              <a:rPr lang="zh-CN" altLang="zh-CN" sz="2400" dirty="0"/>
              <a:t>数据划分：训练</a:t>
            </a:r>
            <a:r>
              <a:rPr lang="en-US" altLang="zh-CN" sz="2400" dirty="0"/>
              <a:t> 5597</a:t>
            </a:r>
            <a:r>
              <a:rPr lang="zh-CN" altLang="zh-CN" sz="2400" dirty="0"/>
              <a:t>张</a:t>
            </a:r>
            <a:r>
              <a:rPr lang="en-US" altLang="zh-CN" sz="2400" dirty="0"/>
              <a:t> / </a:t>
            </a:r>
            <a:r>
              <a:rPr lang="zh-CN" altLang="zh-CN" sz="2400" dirty="0"/>
              <a:t>验证</a:t>
            </a:r>
            <a:r>
              <a:rPr lang="en-US" altLang="zh-CN" sz="2400" dirty="0"/>
              <a:t> 1399 </a:t>
            </a:r>
            <a:r>
              <a:rPr lang="zh-CN" altLang="zh-CN" sz="2400" dirty="0"/>
              <a:t>张</a:t>
            </a:r>
            <a:r>
              <a:rPr lang="en-US" altLang="zh-CN" sz="2400" dirty="0"/>
              <a:t>(</a:t>
            </a:r>
            <a:r>
              <a:rPr lang="en-US" altLang="zh-CN" sz="2400" dirty="0" err="1"/>
              <a:t>ps</a:t>
            </a:r>
            <a:r>
              <a:rPr lang="en-US" altLang="zh-CN" sz="2400" dirty="0"/>
              <a:t>:</a:t>
            </a:r>
            <a:r>
              <a:rPr lang="zh-CN" altLang="en-US" sz="2400" dirty="0"/>
              <a:t>按照机器学习惯例</a:t>
            </a:r>
            <a:r>
              <a:rPr lang="en-US" altLang="zh-CN" sz="2400" dirty="0"/>
              <a:t>8:2</a:t>
            </a:r>
            <a:r>
              <a:rPr lang="zh-CN" altLang="en-US" sz="2400" dirty="0"/>
              <a:t>划分</a:t>
            </a:r>
            <a:r>
              <a:rPr lang="en-US" altLang="zh-CN" sz="2400" dirty="0"/>
              <a:t>)</a:t>
            </a:r>
            <a:endParaRPr lang="zh-CN" altLang="zh-CN" sz="24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2428" y="2253727"/>
            <a:ext cx="1106961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第二步：</a:t>
            </a:r>
            <a:r>
              <a:rPr lang="en-US" altLang="zh-CN" sz="2800" b="1" dirty="0" err="1"/>
              <a:t>分层采样</a:t>
            </a:r>
            <a:r>
              <a:rPr lang="zh-CN" altLang="en-US" sz="2800" b="1" dirty="0"/>
              <a:t>（</a:t>
            </a:r>
            <a:r>
              <a:rPr lang="en-US" altLang="zh-CN" sz="2800" b="1" dirty="0"/>
              <a:t>stratified</a:t>
            </a:r>
            <a:r>
              <a:rPr lang="zh-CN" altLang="en-US" sz="2800" b="1" dirty="0"/>
              <a:t>）</a:t>
            </a:r>
            <a:endParaRPr lang="en-US" altLang="zh-CN" sz="2800" b="1" dirty="0"/>
          </a:p>
          <a:p>
            <a:pPr lvl="0"/>
            <a:r>
              <a:rPr lang="zh-CN" altLang="en-US" sz="2400" b="1" dirty="0"/>
              <a:t>做法：</a:t>
            </a:r>
            <a:endParaRPr lang="en-US" altLang="zh-CN" sz="2400" b="1" dirty="0"/>
          </a:p>
          <a:p>
            <a:pPr lvl="0"/>
            <a:r>
              <a:rPr lang="en-US" altLang="zh-CN" sz="2400" dirty="0"/>
              <a:t>① </a:t>
            </a:r>
            <a:r>
              <a:rPr lang="en-US" altLang="zh-CN" sz="2400" dirty="0" err="1"/>
              <a:t>给每张图算一个"包含哪些类"的组合编码（combination</a:t>
            </a:r>
            <a:r>
              <a:rPr lang="en-US" altLang="zh-CN" sz="2400" dirty="0"/>
              <a:t>），</a:t>
            </a:r>
            <a:r>
              <a:rPr lang="en-US" altLang="zh-CN" sz="2400" dirty="0" err="1"/>
              <a:t>例如图A</a:t>
            </a:r>
            <a:r>
              <a:rPr lang="en-US" altLang="zh-CN" sz="2400" dirty="0"/>
              <a:t>=</a:t>
            </a:r>
            <a:r>
              <a:rPr lang="en-US" altLang="zh-CN" sz="2400" dirty="0" err="1"/>
              <a:t>背景+道路+车辆、图B</a:t>
            </a:r>
            <a:r>
              <a:rPr lang="en-US" altLang="zh-CN" sz="2400" dirty="0"/>
              <a:t>=</a:t>
            </a:r>
            <a:r>
              <a:rPr lang="en-US" altLang="zh-CN" sz="2400" dirty="0" err="1"/>
              <a:t>农田+植被</a:t>
            </a:r>
            <a:endParaRPr lang="zh-CN" altLang="zh-CN" sz="2400" dirty="0"/>
          </a:p>
          <a:p>
            <a:pPr lvl="0"/>
            <a:r>
              <a:rPr lang="en-US" altLang="zh-CN" sz="2400" dirty="0"/>
              <a:t>② </a:t>
            </a:r>
            <a:r>
              <a:rPr lang="en-US" altLang="zh-CN" sz="2400" dirty="0" err="1"/>
              <a:t>按这个组合分组</a:t>
            </a:r>
            <a:endParaRPr lang="zh-CN" altLang="zh-CN" sz="2400" dirty="0"/>
          </a:p>
          <a:p>
            <a:pPr lvl="0"/>
            <a:r>
              <a:rPr lang="en-US" altLang="zh-CN" sz="2400" dirty="0"/>
              <a:t>③ </a:t>
            </a:r>
            <a:r>
              <a:rPr lang="en-US" altLang="zh-CN" sz="2400" dirty="0" err="1"/>
              <a:t>每个组内按</a:t>
            </a:r>
            <a:r>
              <a:rPr lang="en-US" altLang="zh-CN" sz="2400" dirty="0"/>
              <a:t> 20% 比例算出"</a:t>
            </a:r>
            <a:r>
              <a:rPr lang="en-US" altLang="zh-CN" sz="2400" dirty="0" err="1"/>
              <a:t>该组应进验证集的配额</a:t>
            </a:r>
            <a:r>
              <a:rPr lang="en-US" altLang="zh-CN" sz="2400" dirty="0"/>
              <a:t>"，</a:t>
            </a:r>
            <a:r>
              <a:rPr lang="en-US" altLang="zh-CN" sz="2400" dirty="0" err="1"/>
              <a:t>用最大余数法凑整保证总数恰好</a:t>
            </a:r>
            <a:r>
              <a:rPr lang="en-US" altLang="zh-CN" sz="2400" dirty="0"/>
              <a:t> 1399</a:t>
            </a:r>
            <a:endParaRPr lang="en-US" altLang="zh-CN" sz="2400" dirty="0"/>
          </a:p>
          <a:p>
            <a:pPr lvl="0"/>
            <a:r>
              <a:rPr lang="en-US" altLang="zh-CN" sz="2400" dirty="0"/>
              <a:t>④ </a:t>
            </a:r>
            <a:r>
              <a:rPr lang="en-US" altLang="zh-CN" sz="2400" dirty="0" err="1"/>
              <a:t>组内随机抽这么多张进验证集，其余进训练集</a:t>
            </a:r>
            <a:endParaRPr lang="zh-CN" altLang="zh-CN" sz="2400" dirty="0"/>
          </a:p>
          <a:p>
            <a:r>
              <a:rPr lang="zh-CN" altLang="en-US" sz="2400" b="1" dirty="0"/>
              <a:t>效果：</a:t>
            </a:r>
            <a:endParaRPr lang="en-US" altLang="zh-CN" sz="2400" b="1" dirty="0"/>
          </a:p>
          <a:p>
            <a:r>
              <a:rPr lang="en-US" altLang="zh-CN" sz="2400" dirty="0" err="1"/>
              <a:t>保证验证集与训练集同类别分布</a:t>
            </a:r>
            <a:r>
              <a:rPr lang="zh-CN" altLang="en-US" sz="2400" dirty="0"/>
              <a:t>，但</a:t>
            </a:r>
            <a:r>
              <a:rPr lang="en-US" altLang="zh-CN" sz="2400" dirty="0"/>
              <a:t>验证集只反映"</a:t>
            </a:r>
            <a:r>
              <a:rPr lang="en-US" altLang="zh-CN" sz="2400" dirty="0" err="1"/>
              <a:t>模型在训练域拟合得好不好</a:t>
            </a:r>
            <a:r>
              <a:rPr lang="en-US" altLang="zh-CN" sz="2400" dirty="0"/>
              <a:t>"，测不出"</a:t>
            </a:r>
            <a:r>
              <a:rPr lang="en-US" altLang="zh-CN" sz="2400" dirty="0" err="1"/>
              <a:t>换一个分布能否泛化</a:t>
            </a:r>
            <a:r>
              <a:rPr lang="en-US" altLang="zh-CN" sz="2400" dirty="0"/>
              <a:t>"。</a:t>
            </a:r>
            <a:r>
              <a:rPr lang="en-US" altLang="zh-CN" sz="2400" dirty="0" err="1"/>
              <a:t>这正是本地分一直与线上分背离的根因</a:t>
            </a:r>
            <a:r>
              <a:rPr lang="en-US" altLang="zh-CN" sz="2400" dirty="0"/>
              <a:t>。</a:t>
            </a:r>
            <a:endParaRPr lang="en-US" altLang="zh-CN" sz="2400" dirty="0"/>
          </a:p>
          <a:p>
            <a:endParaRPr lang="en-US" altLang="zh-CN" sz="2800" b="1" dirty="0"/>
          </a:p>
          <a:p>
            <a:endParaRPr lang="en-US" altLang="zh-CN" sz="2800" b="1" dirty="0"/>
          </a:p>
          <a:p>
            <a:r>
              <a:rPr lang="zh-CN" altLang="en-US" sz="2800" b="1" dirty="0"/>
              <a:t>             </a:t>
            </a:r>
            <a:endParaRPr lang="zh-CN" altLang="en-US" sz="28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4713" y="281902"/>
            <a:ext cx="10515600" cy="65223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b="1" dirty="0"/>
              <a:t>第三步：</a:t>
            </a:r>
            <a:r>
              <a:rPr lang="en-US" altLang="zh-CN" b="1" dirty="0" err="1"/>
              <a:t>训练时的数据增广</a:t>
            </a: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indent="0">
              <a:buNone/>
            </a:pPr>
            <a:endParaRPr lang="en-US" altLang="zh-CN" b="1" dirty="0"/>
          </a:p>
          <a:p>
            <a:pPr marL="0" lvl="0" indent="0">
              <a:buNone/>
            </a:pPr>
            <a:endParaRPr lang="en-US" altLang="zh-CN" sz="2000" b="1" dirty="0"/>
          </a:p>
          <a:p>
            <a:pPr marL="0" lvl="0" indent="0">
              <a:buNone/>
            </a:pPr>
            <a:r>
              <a:rPr lang="zh-CN" altLang="en-US" sz="2000" b="1" dirty="0"/>
              <a:t>做法：（</a:t>
            </a:r>
            <a:r>
              <a:rPr lang="en-US" altLang="zh-CN" sz="2000" b="1" dirty="0" err="1"/>
              <a:t>在线增广，不增加图片数量</a:t>
            </a:r>
            <a:r>
              <a:rPr lang="zh-CN" altLang="en-US" sz="2000" b="1" dirty="0"/>
              <a:t>）</a:t>
            </a:r>
            <a:endParaRPr lang="en-US" altLang="zh-CN" sz="2000" b="1" dirty="0"/>
          </a:p>
          <a:p>
            <a:pPr marL="0" lvl="0" indent="0">
              <a:buNone/>
            </a:pPr>
            <a:r>
              <a:rPr lang="en-US" altLang="zh-CN" sz="2000" dirty="0"/>
              <a:t>1.磁盘上仍是 6996 </a:t>
            </a:r>
            <a:r>
              <a:rPr lang="en-US" altLang="zh-CN" sz="2000" dirty="0" err="1"/>
              <a:t>张原图文件，一张没改、没复制</a:t>
            </a:r>
            <a:r>
              <a:rPr lang="en-US" altLang="zh-CN" sz="2000" dirty="0"/>
              <a:t>——</a:t>
            </a:r>
            <a:r>
              <a:rPr lang="en-US" altLang="zh-CN" sz="2000" dirty="0" err="1"/>
              <a:t>物理上不增加训练集数量</a:t>
            </a:r>
            <a:endParaRPr lang="zh-CN" altLang="zh-CN" sz="2000" dirty="0"/>
          </a:p>
          <a:p>
            <a:pPr marL="0" lvl="0" indent="0">
              <a:buNone/>
            </a:pPr>
            <a:r>
              <a:rPr lang="en-US" altLang="zh-CN" sz="2000" dirty="0"/>
              <a:t>2.每次把图读进内存喂给模型前，按 50% </a:t>
            </a:r>
            <a:r>
              <a:rPr lang="en-US" altLang="zh-CN" sz="2000" dirty="0" err="1"/>
              <a:t>概率随机掷硬币决定：翻不翻？转不转？裁哪里</a:t>
            </a:r>
            <a:r>
              <a:rPr lang="en-US" altLang="zh-CN" sz="2000" dirty="0"/>
              <a:t>？</a:t>
            </a:r>
            <a:endParaRPr lang="zh-CN" altLang="zh-CN" sz="2000" dirty="0"/>
          </a:p>
          <a:p>
            <a:pPr marL="0" lvl="0" indent="0">
              <a:buNone/>
            </a:pPr>
            <a:r>
              <a:rPr lang="en-US" altLang="zh-CN" sz="2000" dirty="0"/>
              <a:t>3.一张图在一个 epoch </a:t>
            </a:r>
            <a:r>
              <a:rPr lang="en-US" altLang="zh-CN" sz="2000" dirty="0" err="1"/>
              <a:t>内只被读一次，所以一个</a:t>
            </a:r>
            <a:r>
              <a:rPr lang="en-US" altLang="zh-CN" sz="2000" dirty="0"/>
              <a:t> epoch </a:t>
            </a:r>
            <a:r>
              <a:rPr lang="en-US" altLang="zh-CN" sz="2000" dirty="0" err="1"/>
              <a:t>内每个样本只变形一次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4.但 40 </a:t>
            </a:r>
            <a:r>
              <a:rPr lang="en-US" altLang="zh-CN" sz="2000" dirty="0" err="1"/>
              <a:t>轮下来，同一张原图被变形</a:t>
            </a:r>
            <a:r>
              <a:rPr lang="en-US" altLang="zh-CN" sz="2000" dirty="0"/>
              <a:t> 40 次不同形态（这轮翻转、下轮旋转90°、再下轮旋转180°又翻转……</a:t>
            </a:r>
            <a:r>
              <a:rPr lang="en-US" altLang="zh-CN" sz="2000" dirty="0" err="1"/>
              <a:t>每次随机</a:t>
            </a:r>
            <a:r>
              <a:rPr lang="en-US" altLang="zh-CN" sz="2000" dirty="0"/>
              <a:t>）</a:t>
            </a:r>
            <a:endParaRPr lang="en-US" altLang="zh-CN" sz="2000" dirty="0"/>
          </a:p>
          <a:p>
            <a:pPr marL="0" indent="0">
              <a:buNone/>
            </a:pPr>
            <a:r>
              <a:rPr lang="zh-CN" altLang="en-US" sz="2000" b="1" dirty="0"/>
              <a:t>效果：</a:t>
            </a:r>
            <a:r>
              <a:rPr lang="en-US" altLang="zh-CN" sz="2000" dirty="0" err="1"/>
              <a:t>模型</a:t>
            </a:r>
            <a:r>
              <a:rPr lang="en-US" altLang="zh-CN" sz="2000" dirty="0"/>
              <a:t> 40 </a:t>
            </a:r>
            <a:r>
              <a:rPr lang="en-US" altLang="zh-CN" sz="2000" dirty="0" err="1"/>
              <a:t>轮实际见过的有效形态</a:t>
            </a:r>
            <a:r>
              <a:rPr lang="en-US" altLang="zh-CN" sz="2000" dirty="0"/>
              <a:t> ≈ 5597 × 40 </a:t>
            </a:r>
            <a:r>
              <a:rPr lang="en-US" altLang="zh-CN" sz="2000" dirty="0" err="1"/>
              <a:t>种，远大于原始张数</a:t>
            </a:r>
            <a:r>
              <a:rPr lang="en-US" altLang="zh-CN" sz="2000" dirty="0"/>
              <a:t>——</a:t>
            </a:r>
            <a:r>
              <a:rPr lang="en-US" altLang="zh-CN" sz="2000" dirty="0" err="1"/>
              <a:t>没有增加图片数量，增加的是每个样本的形态多样性，让模型学到方向无关的本质特征</a:t>
            </a:r>
            <a:r>
              <a:rPr lang="en-US" altLang="zh-CN" sz="2000" dirty="0"/>
              <a:t>。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b="1" dirty="0"/>
              <a:t>Ps:</a:t>
            </a:r>
            <a:r>
              <a:rPr lang="zh-CN" altLang="en-US" sz="2000" dirty="0"/>
              <a:t>此处</a:t>
            </a:r>
            <a:r>
              <a:rPr lang="en-US" altLang="zh-CN" sz="2000" dirty="0"/>
              <a:t>50% </a:t>
            </a:r>
            <a:r>
              <a:rPr lang="en-US" altLang="zh-CN" sz="2000" dirty="0" err="1"/>
              <a:t>是分割任务的经验默认值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    </a:t>
            </a:r>
            <a:r>
              <a:rPr lang="zh-CN" altLang="en-US" sz="2000" dirty="0"/>
              <a:t>我们之前试过</a:t>
            </a:r>
            <a:r>
              <a:rPr lang="en-US" altLang="zh-CN" sz="2000" dirty="0" err="1"/>
              <a:t>颜色增广</a:t>
            </a:r>
            <a:r>
              <a:rPr lang="en-US" altLang="zh-CN" sz="2000" dirty="0"/>
              <a:t>/</a:t>
            </a:r>
            <a:r>
              <a:rPr lang="en-US" altLang="zh-CN" sz="2000" dirty="0" err="1"/>
              <a:t>CopyPaste</a:t>
            </a:r>
            <a:r>
              <a:rPr lang="en-US" altLang="zh-CN" sz="2000" dirty="0"/>
              <a:t> </a:t>
            </a:r>
            <a:r>
              <a:rPr lang="en-US" altLang="zh-CN" sz="2000" dirty="0" err="1"/>
              <a:t>粘贴全被线上判死</a:t>
            </a:r>
            <a:r>
              <a:rPr lang="zh-CN" altLang="en-US" sz="2000" dirty="0"/>
              <a:t>：</a:t>
            </a:r>
            <a:r>
              <a:rPr lang="en-US" altLang="zh-CN" sz="2000" dirty="0" err="1"/>
              <a:t>CopyPaste</a:t>
            </a:r>
            <a:r>
              <a:rPr lang="en-US" altLang="zh-CN" sz="2000" dirty="0"/>
              <a:t> −0.311</a:t>
            </a:r>
            <a:endParaRPr lang="zh-CN" altLang="zh-CN" sz="2000" dirty="0"/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48270" y="642283"/>
            <a:ext cx="5847029" cy="24505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680" y="155987"/>
            <a:ext cx="10515600" cy="28615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b="1" dirty="0"/>
              <a:t>第四步：</a:t>
            </a:r>
            <a:r>
              <a:rPr lang="en-US" altLang="zh-CN" b="1" dirty="0" err="1"/>
              <a:t>模型前向</a:t>
            </a:r>
            <a:endParaRPr lang="en-US" altLang="zh-CN" b="1" dirty="0"/>
          </a:p>
          <a:p>
            <a:pPr marL="0" lvl="0" indent="0">
              <a:buNone/>
            </a:pPr>
            <a:r>
              <a:rPr lang="en-US" altLang="zh-CN" sz="2000" dirty="0"/>
              <a:t>1.模型：SegFormer-B3（Transformer </a:t>
            </a:r>
            <a:r>
              <a:rPr lang="en-US" altLang="zh-CN" sz="2000" dirty="0" err="1"/>
              <a:t>分割网络，预训练于</a:t>
            </a:r>
            <a:r>
              <a:rPr lang="en-US" altLang="zh-CN" sz="2000" dirty="0"/>
              <a:t> ADE20k 150类，微调成 8 类）</a:t>
            </a:r>
            <a:endParaRPr lang="zh-CN" altLang="zh-CN" sz="2000" dirty="0"/>
          </a:p>
          <a:p>
            <a:pPr marL="0" lvl="0" indent="0">
              <a:buNone/>
            </a:pPr>
            <a:r>
              <a:rPr lang="en-US" altLang="zh-CN" sz="2000" dirty="0"/>
              <a:t>2.输入被切成 1024×1024，进 4 层编码器，逐层下采样（1/4→1/8→1/16→1/32）</a:t>
            </a:r>
            <a:endParaRPr lang="zh-CN" altLang="zh-CN" sz="2000" dirty="0"/>
          </a:p>
          <a:p>
            <a:pPr marL="0" lvl="0" indent="0">
              <a:buNone/>
            </a:pPr>
            <a:r>
              <a:rPr lang="en-US" altLang="zh-CN" sz="2000" dirty="0"/>
              <a:t>3.只用最深层(1/32)</a:t>
            </a:r>
            <a:r>
              <a:rPr lang="en-US" altLang="zh-CN" sz="2000" dirty="0" err="1"/>
              <a:t>特征进解码器，解码器把低分辨率特征上采样回</a:t>
            </a:r>
            <a:r>
              <a:rPr lang="en-US" altLang="zh-CN" sz="2000" dirty="0"/>
              <a:t> 1024×1024</a:t>
            </a:r>
            <a:endParaRPr lang="zh-CN" altLang="zh-CN" sz="2000" dirty="0"/>
          </a:p>
          <a:p>
            <a:pPr marL="0" indent="0">
              <a:buNone/>
            </a:pPr>
            <a:r>
              <a:rPr lang="en-US" altLang="zh-CN" sz="2000" dirty="0"/>
              <a:t>4.输出：每个像素在 8 </a:t>
            </a:r>
            <a:r>
              <a:rPr lang="en-US" altLang="zh-CN" sz="2000" dirty="0" err="1"/>
              <a:t>类上的分数（logits</a:t>
            </a:r>
            <a:r>
              <a:rPr lang="en-US" altLang="zh-CN" sz="2000" dirty="0"/>
              <a:t>），</a:t>
            </a:r>
            <a:r>
              <a:rPr lang="en-US" altLang="zh-CN" sz="2000" dirty="0" err="1"/>
              <a:t>softmax</a:t>
            </a:r>
            <a:r>
              <a:rPr lang="en-US" altLang="zh-CN" sz="2000" dirty="0"/>
              <a:t> </a:t>
            </a:r>
            <a:r>
              <a:rPr lang="en-US" altLang="zh-CN" sz="2000" dirty="0" err="1"/>
              <a:t>后取最大类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该像素类别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200" b="1" dirty="0"/>
          </a:p>
          <a:p>
            <a:pPr marL="0" indent="0">
              <a:buNone/>
            </a:pPr>
            <a:r>
              <a:rPr lang="en-US" altLang="zh-CN" sz="2200" b="1" dirty="0" err="1"/>
              <a:t>训练时的关键机制：CWFA</a:t>
            </a:r>
            <a:r>
              <a:rPr lang="en-US" altLang="zh-CN" sz="2200" b="1" dirty="0"/>
              <a:t> </a:t>
            </a:r>
            <a:r>
              <a:rPr lang="en-US" altLang="zh-CN" sz="2200" b="1" dirty="0" err="1"/>
              <a:t>通道级特征增广</a:t>
            </a:r>
            <a:endParaRPr lang="en-US" altLang="zh-CN" sz="2200" b="1" dirty="0"/>
          </a:p>
          <a:p>
            <a:pPr marL="0" indent="0">
              <a:buNone/>
            </a:pPr>
            <a:endParaRPr lang="zh-CN" altLang="zh-CN" dirty="0"/>
          </a:p>
          <a:p>
            <a:pPr marL="0" lvl="0" indent="0">
              <a:buNone/>
            </a:pPr>
            <a:endParaRPr lang="zh-CN" altLang="zh-CN" sz="2200" dirty="0"/>
          </a:p>
          <a:p>
            <a:pPr marL="0" indent="0">
              <a:buNone/>
            </a:pPr>
            <a:endParaRPr lang="zh-CN" altLang="zh-CN" sz="2200" b="1" dirty="0"/>
          </a:p>
          <a:p>
            <a:pPr marL="0" indent="0">
              <a:buNone/>
            </a:pPr>
            <a:endParaRPr lang="zh-CN" altLang="en-US" sz="2000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5797" y="2263915"/>
            <a:ext cx="5953282" cy="23301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4877" y="3017520"/>
            <a:ext cx="57714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/>
              <a:t>模型不是一步出结果：编码器把图逐层下采样成一张特征图（如</a:t>
            </a:r>
            <a:r>
              <a:rPr lang="en-US" altLang="zh-CN" sz="2000" dirty="0"/>
              <a:t> 32×32 </a:t>
            </a:r>
            <a:r>
              <a:rPr lang="en-US" altLang="zh-CN" sz="2000" dirty="0" err="1"/>
              <a:t>格，每格一个</a:t>
            </a:r>
            <a:r>
              <a:rPr lang="en-US" altLang="zh-CN" sz="2000" dirty="0"/>
              <a:t> 768 </a:t>
            </a:r>
            <a:r>
              <a:rPr lang="en-US" altLang="zh-CN" sz="2000" dirty="0" err="1"/>
              <a:t>维向量描述"这片地像什么</a:t>
            </a:r>
            <a:r>
              <a:rPr lang="en-US" altLang="zh-CN" sz="2000" dirty="0"/>
              <a:t>"），</a:t>
            </a:r>
            <a:r>
              <a:rPr lang="en-US" altLang="zh-CN" sz="2000" dirty="0" err="1"/>
              <a:t>再喂解码器放大回</a:t>
            </a:r>
            <a:r>
              <a:rPr lang="en-US" altLang="zh-CN" sz="2000" dirty="0"/>
              <a:t> 1024×1024 </a:t>
            </a:r>
            <a:r>
              <a:rPr lang="en-US" altLang="zh-CN" sz="2000" dirty="0" err="1"/>
              <a:t>逐像素判断类别。CWFA</a:t>
            </a:r>
            <a:r>
              <a:rPr lang="en-US" altLang="zh-CN" sz="2000" dirty="0"/>
              <a:t> </a:t>
            </a:r>
            <a:r>
              <a:rPr lang="en-US" altLang="zh-CN" sz="2000" dirty="0" err="1"/>
              <a:t>就插在"特征图算好、还没喂解码器"之间</a:t>
            </a:r>
            <a:r>
              <a:rPr lang="en-US" altLang="zh-CN" sz="2000" dirty="0"/>
              <a:t>——</a:t>
            </a:r>
            <a:r>
              <a:rPr lang="en-US" altLang="zh-CN" sz="2000" dirty="0" err="1"/>
              <a:t>把特征改一改再往下传</a:t>
            </a:r>
            <a:r>
              <a:rPr lang="en-US" altLang="zh-CN" sz="2000" dirty="0"/>
              <a:t>。</a:t>
            </a:r>
            <a:endParaRPr lang="zh-CN" altLang="zh-CN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234877" y="5056094"/>
            <a:ext cx="1087598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做法：</a:t>
            </a:r>
            <a:r>
              <a:rPr lang="en-US" altLang="zh-CN" sz="2000" dirty="0" err="1"/>
              <a:t>凭真值标签改：训练时每张图有标准答案（每像素是车还是路</a:t>
            </a:r>
            <a:r>
              <a:rPr lang="en-US" altLang="zh-CN" sz="2000" dirty="0"/>
              <a:t>），</a:t>
            </a:r>
            <a:r>
              <a:rPr lang="en-US" altLang="zh-CN" sz="2000" dirty="0" err="1"/>
              <a:t>所以我们知道特征图上哪个格子属于哪类。于是按类把特征收堆</a:t>
            </a:r>
            <a:r>
              <a:rPr lang="en-US" altLang="zh-CN" sz="2000" dirty="0"/>
              <a:t>：</a:t>
            </a:r>
            <a:endParaRPr lang="zh-CN" altLang="zh-CN" sz="2000" dirty="0"/>
          </a:p>
          <a:p>
            <a:pPr lvl="0"/>
            <a:r>
              <a:rPr lang="en-US" altLang="zh-CN" sz="2000" dirty="0"/>
              <a:t>① </a:t>
            </a:r>
            <a:r>
              <a:rPr lang="en-US" altLang="zh-CN" sz="2000" dirty="0" err="1"/>
              <a:t>按像素真值类别，把特征按类分组</a:t>
            </a:r>
            <a:endParaRPr lang="zh-CN" altLang="zh-CN" sz="2000" dirty="0"/>
          </a:p>
          <a:p>
            <a:pPr lvl="0"/>
            <a:r>
              <a:rPr lang="en-US" altLang="zh-CN" sz="2000" dirty="0"/>
              <a:t>② </a:t>
            </a:r>
            <a:r>
              <a:rPr lang="en-US" altLang="zh-CN" sz="2000" dirty="0" err="1"/>
              <a:t>算每类的平均特征</a:t>
            </a:r>
            <a:r>
              <a:rPr lang="en-US" altLang="zh-CN" sz="2000" dirty="0"/>
              <a:t> </a:t>
            </a:r>
            <a:r>
              <a:rPr lang="en-US" altLang="zh-CN" sz="2000" dirty="0" err="1"/>
              <a:t>M_类（如"车"这一类所有格子的平均向量</a:t>
            </a:r>
            <a:r>
              <a:rPr lang="en-US" altLang="zh-CN" sz="2000" dirty="0"/>
              <a:t>）</a:t>
            </a:r>
            <a:endParaRPr lang="zh-CN" altLang="zh-CN" sz="2000" dirty="0"/>
          </a:p>
          <a:p>
            <a:pPr lvl="0"/>
            <a:r>
              <a:rPr lang="en-US" altLang="zh-CN" sz="2000" dirty="0"/>
              <a:t>③ </a:t>
            </a:r>
            <a:r>
              <a:rPr lang="en-US" altLang="zh-CN" sz="2000" dirty="0" err="1"/>
              <a:t>把该类的每个特征往远离平均的方向拉开，公式</a:t>
            </a:r>
            <a:r>
              <a:rPr lang="en-US" altLang="zh-CN" sz="2000" dirty="0"/>
              <a:t> feature = </a:t>
            </a:r>
            <a:r>
              <a:rPr lang="en-US" altLang="zh-CN" sz="2000" dirty="0" err="1"/>
              <a:t>M_类</a:t>
            </a:r>
            <a:r>
              <a:rPr lang="en-US" altLang="zh-CN" sz="2000" dirty="0"/>
              <a:t> + ε×(feature − </a:t>
            </a:r>
            <a:r>
              <a:rPr lang="en-US" altLang="zh-CN" sz="2000" dirty="0" err="1"/>
              <a:t>M_类</a:t>
            </a:r>
            <a:r>
              <a:rPr lang="en-US" altLang="zh-CN" sz="2000" dirty="0"/>
              <a:t>)</a:t>
            </a:r>
            <a:endParaRPr lang="zh-CN" altLang="zh-CN" sz="200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785" y="43030"/>
            <a:ext cx="10515600" cy="59402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 dirty="0"/>
              <a:t>超参数设计：基本是靠默认的数据</a:t>
            </a:r>
            <a:endParaRPr lang="zh-CN" altLang="en-US" sz="2400" b="1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795" y="437337"/>
            <a:ext cx="7434731" cy="60979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4454562" cy="754773"/>
          </a:xfrm>
        </p:spPr>
        <p:txBody>
          <a:bodyPr>
            <a:normAutofit/>
          </a:bodyPr>
          <a:lstStyle/>
          <a:p>
            <a:r>
              <a:rPr lang="zh-CN" altLang="en-US" sz="2800" dirty="0"/>
              <a:t>第二部分：推理阶段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1752" y="868680"/>
            <a:ext cx="11521440" cy="557784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400" b="1"/>
              <a:t>一张测试图进来自模型完成，走完 4 步（第五~八步）输出最终 8 类分割图：</a:t>
            </a:r>
            <a:endParaRPr lang="zh-CN" altLang="en-US"/>
          </a:p>
          <a:p>
            <a:pPr>
              <a:spcAft>
                <a:spcPts val="900"/>
              </a:spcAft>
            </a:pPr>
            <a:r>
              <a:rPr sz="2100" b="1"/>
              <a:t>第五步  预处理 · 标准化</a:t>
            </a:r>
            <a:r>
              <a:rPr sz="2100" b="0"/>
              <a:t>  像素 ÷255 → 减 ImageNet 均值 → 除方差，与训练输入完全一致</a:t>
            </a:r>
            <a:endParaRPr sz="2100" b="0"/>
          </a:p>
          <a:p>
            <a:pPr>
              <a:spcAft>
                <a:spcPts val="900"/>
              </a:spcAft>
            </a:pPr>
            <a:r>
              <a:rPr sz="2100" b="1"/>
              <a:t>第六步  旋转 TTA8</a:t>
            </a:r>
            <a:r>
              <a:rPr sz="2100" b="0"/>
              <a:t>  同一张图做 8 个几何视图，模型各看一眼，逆变换回原图后逐像素平均</a:t>
            </a:r>
            <a:endParaRPr sz="2100" b="0"/>
          </a:p>
          <a:p>
            <a:pPr>
              <a:spcAft>
                <a:spcPts val="900"/>
              </a:spcAft>
            </a:pPr>
            <a:r>
              <a:rPr sz="2100" b="1"/>
              <a:t>第七步  八维类别校准</a:t>
            </a:r>
            <a:r>
              <a:rPr sz="2100" b="0"/>
              <a:t>  给 8 类 logits 各加一个 bias 再 softmax（测试时先验校正，最大分来源 +1.9）</a:t>
            </a:r>
            <a:endParaRPr sz="2100" b="0"/>
          </a:p>
          <a:p>
            <a:pPr>
              <a:spcAft>
                <a:spcPts val="900"/>
              </a:spcAft>
            </a:pPr>
            <a:r>
              <a:rPr sz="2100" b="1"/>
              <a:t>第八步  输出</a:t>
            </a:r>
            <a:r>
              <a:rPr sz="2100" b="0"/>
              <a:t>  softmax 取最大类 → 拼 1024×1024 分割图 → 打包提交 → 线上打分</a:t>
            </a:r>
            <a:endParaRPr sz="2100" b="0"/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7F7F7F"/>
                </a:solidFill>
              </a:rPr>
              <a:t>（模型 = 训练全程中验证集 mIoU 最高的那一步，best_miou）</a:t>
            </a:r>
            <a:endParaRPr sz="1500" b="0">
              <a:solidFill>
                <a:srgbClr val="7F7F7F"/>
              </a:solidFill>
            </a:endParaRP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7F7F7F"/>
                </a:solidFill>
              </a:rPr>
              <a:t>下面每步一页：怎么操作、参数依据、为什么这么做。</a:t>
            </a:r>
            <a:endParaRPr sz="1500" b="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09728"/>
            <a:ext cx="11704320" cy="731520"/>
          </a:xfrm>
        </p:spPr>
        <p:txBody>
          <a:bodyPr/>
          <a:lstStyle/>
          <a:p>
            <a:r>
              <a:rPr sz="2800" b="1">
                <a:solidFill>
                  <a:srgbClr val="1F4E79"/>
                </a:solidFill>
              </a:rPr>
              <a:t>第五步：预处理 · 标准化（ImageNet 归一化）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52" y="932688"/>
            <a:ext cx="11521440" cy="56692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为什么：</a:t>
            </a:r>
            <a:r>
              <a:rPr sz="2000" b="0"/>
              <a:t>模型在 ImageNet 上预训练，输入被假设为“均值约0、方差约1”；推理时测试图先做同样处理，训练/推理输入分布才一致。</a:t>
            </a:r>
            <a:endParaRPr sz="2000" b="0"/>
          </a:p>
          <a:p>
            <a:pPr>
              <a:spcAft>
                <a:spcPts val="800"/>
              </a:spcAft>
            </a:pPr>
            <a:r>
              <a:rPr sz="2200" b="1"/>
              <a:t>怎么操作：RGB 三通道各自算 ——  (像素值 ÷ 255 − μ) ÷ σ</a:t>
            </a:r>
            <a:endParaRPr sz="2200" b="1"/>
          </a:p>
          <a:p>
            <a:pPr>
              <a:spcAft>
                <a:spcPts val="800"/>
              </a:spcAft>
            </a:pPr>
            <a:r>
              <a:rPr sz="1800" b="0"/>
              <a:t>效果：把 0~255 的像素压到均值约0、方差约1，数值稳定，模型好处理。</a:t>
            </a:r>
            <a:endParaRPr sz="1800" b="0"/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7F7F7F"/>
                </a:solidFill>
              </a:rPr>
              <a:t>注：μ/σ 是 ImageNet 预训练的标准常数（不是我们扫出来的），与训练时逐像素处理完全一致。</a:t>
            </a:r>
            <a:endParaRPr sz="1500" b="0">
              <a:solidFill>
                <a:srgbClr val="7F7F7F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514600"/>
          <a:ext cx="10607038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03119"/>
                <a:gridCol w="2103119"/>
                <a:gridCol w="521208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400" b="1"/>
                        <a:t>通道</a:t>
                      </a:r>
                      <a:endParaRPr sz="1400" b="1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 b="1"/>
                        <a:t>μ（减的均值）</a:t>
                      </a:r>
                      <a:endParaRPr sz="1400" b="1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 b="1"/>
                        <a:t>σ（除的方差）</a:t>
                      </a:r>
                      <a:endParaRPr sz="1400" b="1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 b="1"/>
                        <a:t>例：像素值 = 100</a:t>
                      </a:r>
                      <a:endParaRPr sz="1400" b="1"/>
                    </a:p>
                  </a:txBody>
                  <a:tcPr marL="50800" marR="50800" marT="12700" marB="12700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400"/>
                        <a:t>R 红</a:t>
                      </a:r>
                      <a:endParaRPr sz="14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0.485</a:t>
                      </a:r>
                      <a:endParaRPr sz="14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0.229</a:t>
                      </a:r>
                      <a:endParaRPr sz="14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(100/255 − 0.485) / 0.229 ≈ 0.195</a:t>
                      </a:r>
                      <a:endParaRPr sz="1400"/>
                    </a:p>
                  </a:txBody>
                  <a:tcPr marL="50800" marR="50800" marT="12700" marB="12700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400"/>
                        <a:t>G 绿</a:t>
                      </a:r>
                      <a:endParaRPr sz="14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0.456</a:t>
                      </a:r>
                      <a:endParaRPr sz="14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0.224</a:t>
                      </a:r>
                      <a:endParaRPr sz="14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(100/255 − 0.456) / 0.224 ≈ 0.215</a:t>
                      </a:r>
                      <a:endParaRPr sz="1400"/>
                    </a:p>
                  </a:txBody>
                  <a:tcPr marL="50800" marR="50800" marT="12700" marB="12700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400"/>
                        <a:t>B 蓝</a:t>
                      </a:r>
                      <a:endParaRPr sz="14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0.406</a:t>
                      </a:r>
                      <a:endParaRPr sz="14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0.225</a:t>
                      </a:r>
                      <a:endParaRPr sz="14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(100/255 − 0.406) / 0.225 ≈ 0.217</a:t>
                      </a:r>
                      <a:endParaRPr sz="1400"/>
                    </a:p>
                  </a:txBody>
                  <a:tcPr marL="50800" marR="508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09728"/>
            <a:ext cx="11704320" cy="731520"/>
          </a:xfrm>
        </p:spPr>
        <p:txBody>
          <a:bodyPr/>
          <a:lstStyle/>
          <a:p>
            <a:r>
              <a:rPr sz="2800" b="1">
                <a:solidFill>
                  <a:srgbClr val="1F4E79"/>
                </a:solidFill>
              </a:rPr>
              <a:t>第六步：旋转 TTA8（测试时增广）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52" y="932688"/>
            <a:ext cx="11521440" cy="56692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100" b="1"/>
              <a:t>做法：同一张测试图生成 8 个视图 → 各自进模型得 8 份 logits → 逆变换回原图方向 → 逐像素取平均</a:t>
            </a:r>
            <a:endParaRPr sz="2100" b="1"/>
          </a:p>
          <a:p>
            <a:pPr>
              <a:spcAft>
                <a:spcPts val="400"/>
              </a:spcAft>
            </a:pPr>
            <a:r>
              <a:rPr sz="2000" b="0"/>
              <a:t>①~④  旋转 0° / 90° / 180° / 270°</a:t>
            </a:r>
            <a:endParaRPr sz="2000" b="0"/>
          </a:p>
          <a:p>
            <a:pPr>
              <a:spcAft>
                <a:spcPts val="800"/>
              </a:spcAft>
            </a:pPr>
            <a:r>
              <a:rPr sz="2000" b="0"/>
              <a:t>⑤~⑧  上述 4 个旋转再各自水平翻转一次</a:t>
            </a:r>
            <a:endParaRPr sz="2000" b="0"/>
          </a:p>
          <a:p>
            <a:pPr>
              <a:spcAft>
                <a:spcPts val="600"/>
              </a:spcAft>
            </a:pPr>
            <a:r>
              <a:rPr sz="2000" b="1"/>
              <a:t>为什么安全：</a:t>
            </a:r>
            <a:r>
              <a:rPr sz="2000" b="0"/>
              <a:t>训练时就以 50% 概率随机旋转/翻转做增广，模型对这些几何变换鲁棒——8 个视图不会“难倒”它。</a:t>
            </a:r>
            <a:endParaRPr sz="2000" b="0"/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C00000"/>
                </a:solidFill>
              </a:rPr>
              <a:t>收益：约 +0.27 ~ +0.47（相对不 TTA）</a:t>
            </a:r>
            <a:endParaRPr sz="2000" b="1">
              <a:solidFill>
                <a:srgbClr val="C00000"/>
              </a:solidFill>
            </a:endParaRPr>
          </a:p>
          <a:p>
            <a:pPr>
              <a:spcAft>
                <a:spcPts val="600"/>
              </a:spcAft>
            </a:pPr>
            <a:r>
              <a:rPr sz="2200" b="1"/>
              <a:t>和前面“训练增广”到底啥区别：</a:t>
            </a:r>
            <a:endParaRPr sz="2200" b="1"/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7F7F7F"/>
                </a:solidFill>
              </a:rPr>
              <a:t>一句话：训练增广是 TTA 能用的前提——模型先学会对旋转/翻转鲁棒，推理时看 8 个角度才不陌生。</a:t>
            </a:r>
            <a:endParaRPr sz="1500" b="0">
              <a:solidFill>
                <a:srgbClr val="7F7F7F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3291840"/>
          <a:ext cx="106070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566160"/>
                <a:gridCol w="438912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300" b="1"/>
                        <a:t>对比</a:t>
                      </a:r>
                      <a:endParaRPr sz="1300" b="1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300" b="1"/>
                        <a:t>训练时的增广</a:t>
                      </a:r>
                      <a:endParaRPr sz="1300" b="1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300" b="1"/>
                        <a:t>TTA 测试时增广</a:t>
                      </a:r>
                      <a:endParaRPr sz="1300" b="1"/>
                    </a:p>
                  </a:txBody>
                  <a:tcPr marL="50800" marR="50800" marT="12700" marB="12700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/>
                        <a:t>何时发生</a:t>
                      </a:r>
                      <a:endParaRPr sz="13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训练中</a:t>
                      </a:r>
                      <a:endParaRPr sz="13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推理时</a:t>
                      </a:r>
                      <a:endParaRPr sz="1300"/>
                    </a:p>
                  </a:txBody>
                  <a:tcPr marL="50800" marR="50800" marT="12700" marB="12700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/>
                        <a:t>对谁</a:t>
                      </a:r>
                      <a:endParaRPr sz="13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对训练图随机做</a:t>
                      </a:r>
                      <a:endParaRPr sz="13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对同一张测试图做</a:t>
                      </a:r>
                      <a:endParaRPr sz="1300"/>
                    </a:p>
                  </a:txBody>
                  <a:tcPr marL="50800" marR="50800" marT="12700" marB="12700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/>
                        <a:t>目的</a:t>
                      </a:r>
                      <a:endParaRPr sz="13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让模型学会几何鲁棒</a:t>
                      </a:r>
                      <a:endParaRPr sz="13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让预测更准</a:t>
                      </a:r>
                      <a:endParaRPr sz="1300"/>
                    </a:p>
                  </a:txBody>
                  <a:tcPr marL="50800" marR="50800" marT="12700" marB="12700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300"/>
                        <a:t>一次做几个视图</a:t>
                      </a:r>
                      <a:endParaRPr sz="13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每张图随机 1 个视图</a:t>
                      </a:r>
                      <a:endParaRPr sz="13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300"/>
                        <a:t>每张图做满 8 个视图</a:t>
                      </a:r>
                      <a:endParaRPr sz="1300"/>
                    </a:p>
                  </a:txBody>
                  <a:tcPr marL="50800" marR="50800" marT="12700" marB="1270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</a:rPr>
              <a:t>第七步：八维类别校准 · 本质=输出端按“测试集比例”配先验（+1.9）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262626"/>
                </a:solidFill>
              </a:rPr>
              <a:t>背景：</a:t>
            </a:r>
            <a:r>
              <a:rPr sz="1700" b="0">
                <a:solidFill>
                  <a:srgbClr val="262626"/>
                </a:solidFill>
              </a:rPr>
              <a:t>实测测试集各类占比 ≠ 训练集（背景多 +4.75%、植被少 −4.71%）。模型按训练集比例报答案，换到测试集就系统性偏——背景被少报、植被被多报。</a:t>
            </a:r>
            <a:endParaRPr sz="1700" b="0">
              <a:solidFill>
                <a:srgbClr val="26262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262626"/>
                </a:solidFill>
              </a:rPr>
              <a:t>做法：</a:t>
            </a:r>
            <a:r>
              <a:rPr sz="1700" b="0">
                <a:solidFill>
                  <a:srgbClr val="262626"/>
                </a:solidFill>
              </a:rPr>
              <a:t>给 8 类 logits 各加一个 bias 再 softmax —— 在最后一刀前，把每类的“出场先验”改成贴合测试集（正式叫 prior-shift / 输出端先验偏移）。</a:t>
            </a:r>
            <a:endParaRPr sz="1700" b="0">
              <a:solidFill>
                <a:srgbClr val="262626"/>
              </a:solidFill>
            </a:endParaRPr>
          </a:p>
          <a:p>
            <a:pPr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</a:rPr>
              <a:t>这正是它能拿 +1.9（训练期最大）的原因：</a:t>
            </a:r>
            <a:r>
              <a:rPr sz="1500" b="0">
                <a:solidFill>
                  <a:srgbClr val="C00000"/>
                </a:solidFill>
              </a:rPr>
              <a:t>它不碰训练数据、只改最终判断。</a:t>
            </a:r>
            <a:endParaRPr sz="1500" b="0">
              <a:solidFill>
                <a:srgbClr val="C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063240"/>
          <a:ext cx="11247119" cy="222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680"/>
                <a:gridCol w="1338942"/>
                <a:gridCol w="8658497"/>
              </a:tblGrid>
              <a:tr h="246888">
                <a:tc>
                  <a:txBody>
                    <a:bodyPr wrap="square"/>
                    <a:lstStyle/>
                    <a:p>
                      <a:r>
                        <a:rPr sz="1250" b="1"/>
                        <a:t>类别</a:t>
                      </a:r>
                      <a:endParaRPr sz="1250" b="1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 b="1"/>
                        <a:t>bias</a:t>
                      </a:r>
                      <a:endParaRPr sz="1250" b="1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 b="1"/>
                        <a:t>为什么（方向＝按测试集比例调）</a:t>
                      </a:r>
                      <a:endParaRPr sz="1250" b="1"/>
                    </a:p>
                  </a:txBody>
                  <a:tcPr marL="50800" marR="50800" marT="12700" marB="12700"/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250"/>
                        <a:t>背景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−0.20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测试集背景更多，压低它</a:t>
                      </a:r>
                      <a:endParaRPr sz="1250"/>
                    </a:p>
                  </a:txBody>
                  <a:tcPr marL="50800" marR="50800" marT="12700" marB="12700"/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250"/>
                        <a:t>建筑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−0.0384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微负微调</a:t>
                      </a:r>
                      <a:endParaRPr sz="1250"/>
                    </a:p>
                  </a:txBody>
                  <a:tcPr marL="50800" marR="50800" marT="12700" marB="12700"/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250"/>
                        <a:t>道路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+0.0709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精确顶点</a:t>
                      </a:r>
                      <a:endParaRPr sz="1250"/>
                    </a:p>
                  </a:txBody>
                  <a:tcPr marL="50800" marR="50800" marT="12700" marB="12700"/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250"/>
                        <a:t>水体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+0.70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抬升</a:t>
                      </a:r>
                      <a:endParaRPr sz="1250"/>
                    </a:p>
                  </a:txBody>
                  <a:tcPr marL="50800" marR="50800" marT="12700" marB="12700"/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250"/>
                        <a:t>荒地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+3.60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大幅抬：最易被吞掉的灰色类</a:t>
                      </a:r>
                      <a:endParaRPr sz="1250"/>
                    </a:p>
                  </a:txBody>
                  <a:tcPr marL="50800" marR="50800" marT="12700" marB="12700"/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250"/>
                        <a:t>植被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+0.40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测试集植被更少，模型已偏多，稍抬</a:t>
                      </a:r>
                      <a:endParaRPr sz="1250"/>
                    </a:p>
                  </a:txBody>
                  <a:tcPr marL="50800" marR="50800" marT="12700" marB="12700"/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250"/>
                        <a:t>农田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+3.3215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大幅抬</a:t>
                      </a:r>
                      <a:endParaRPr sz="1250"/>
                    </a:p>
                  </a:txBody>
                  <a:tcPr marL="50800" marR="50800" marT="12700" marB="12700"/>
                </a:tc>
              </a:tr>
              <a:tr h="246888">
                <a:tc>
                  <a:txBody>
                    <a:bodyPr wrap="square"/>
                    <a:lstStyle/>
                    <a:p>
                      <a:r>
                        <a:rPr sz="1250"/>
                        <a:t>车辆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−0.50</a:t>
                      </a:r>
                      <a:endParaRPr sz="125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250"/>
                        <a:t>压低</a:t>
                      </a:r>
                      <a:endParaRPr sz="1250"/>
                    </a:p>
                  </a:txBody>
                  <a:tcPr marL="50800" marR="50800" marT="12700" marB="127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5321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</a:rPr>
              <a:t>为什么不直接去改训练集的比例（重采样）？</a:t>
            </a:r>
            <a:r>
              <a:rPr sz="1500" b="0">
                <a:solidFill>
                  <a:srgbClr val="262626"/>
                </a:solidFill>
              </a:rPr>
              <a:t>——训练端的“加权 CE（= 给每类样本按比例加权）”已线上判负 −0.049：少数类（荒地/车辆）带标注噪声 + 与背景视觉孪生，多喂=放大噪声。bias 只改最后一刀，不动已学好的特征。</a:t>
            </a:r>
            <a:endParaRPr sz="1500" b="0">
              <a:solidFill>
                <a:srgbClr val="262626"/>
              </a:solidFill>
            </a:endParaRPr>
          </a:p>
          <a:p>
            <a:pPr>
              <a:spcAft>
                <a:spcPts val="0"/>
              </a:spcAft>
            </a:pPr>
            <a:r>
              <a:rPr sz="1300" b="1">
                <a:solidFill>
                  <a:srgbClr val="7F7F7F"/>
                </a:solidFill>
              </a:rPr>
              <a:t>注意：</a:t>
            </a:r>
            <a:r>
              <a:rPr sz="1300" b="0">
                <a:solidFill>
                  <a:srgbClr val="7F7F7F"/>
                </a:solidFill>
              </a:rPr>
              <a:t>数值 ≠ 纯比例——荒地 +3.6（≈36 倍）显然不是真实比例，它还补偿了“整片荒地被模型认成背景”的系统误判。所以最终值是约 40~60 次线上提交逐维扫出来的（下一页）。</a:t>
            </a:r>
            <a:endParaRPr sz="1300" b="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09728"/>
            <a:ext cx="11704320" cy="731520"/>
          </a:xfrm>
        </p:spPr>
        <p:txBody>
          <a:bodyPr/>
          <a:lstStyle/>
          <a:p>
            <a:r>
              <a:rPr sz="2800" b="1">
                <a:solidFill>
                  <a:srgbClr val="1F4E79"/>
                </a:solidFill>
              </a:rPr>
              <a:t>第七步（续）：这 8 个 bias 是几十次线上提交扫出来的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52" y="932688"/>
            <a:ext cx="11521440" cy="5669280"/>
          </a:xfrm>
        </p:spPr>
        <p:txBody>
          <a:bodyPr wrap="square"/>
          <a:lstStyle/>
          <a:p>
            <a:pPr>
              <a:spcAft>
                <a:spcPts val="800"/>
              </a:spcAft>
            </a:pPr>
            <a:r>
              <a:rPr sz="2000" b="1"/>
              <a:t>为什么不能按先验占比直接算？</a:t>
            </a:r>
            <a:r>
              <a:rPr sz="2000" b="0"/>
              <a:t>类别之间有耦合——调高一个类会牵连别的类。只能逐个试、看线上分逼近顶点。</a:t>
            </a:r>
            <a:endParaRPr sz="2000" b="0"/>
          </a:p>
          <a:p>
            <a:pPr>
              <a:spcAft>
                <a:spcPts val="600"/>
              </a:spcAft>
            </a:pPr>
            <a:r>
              <a:rPr sz="1900" b="0"/>
              <a:t>① 第一轮 prior-shift 粗调：按测试先验缩放 logits，基线 66.74 → 67.39（+0.65）</a:t>
            </a:r>
            <a:endParaRPr sz="1900" b="0"/>
          </a:p>
          <a:p>
            <a:pPr>
              <a:spcAft>
                <a:spcPts val="600"/>
              </a:spcAft>
            </a:pPr>
            <a:r>
              <a:rPr sz="1900" b="0"/>
              <a:t>② 第二轮 V1e：发现背景过冲、植被/农田不足 → 背景负偏置、绿色类正偏置，68.03</a:t>
            </a:r>
            <a:endParaRPr sz="1900" b="0"/>
          </a:p>
          <a:p>
            <a:pPr>
              <a:spcAft>
                <a:spcPts val="600"/>
              </a:spcAft>
            </a:pPr>
            <a:r>
              <a:rPr sz="1900" b="0"/>
              <a:t>③ 第三轮 背景梯度扫描：−0.005 一路到 −0.20，线上单调上升，−0.20 是顶点</a:t>
            </a:r>
            <a:endParaRPr sz="1900" b="0"/>
          </a:p>
          <a:p>
            <a:pPr>
              <a:spcAft>
                <a:spcPts val="600"/>
              </a:spcAft>
            </a:pPr>
            <a:r>
              <a:rPr sz="1900" b="0"/>
              <a:t>④ 第四轮 荒地梯度：+1.4 → +3.6 单调上升，3.6 精确顶点</a:t>
            </a:r>
            <a:endParaRPr sz="1900" b="0"/>
          </a:p>
          <a:p>
            <a:pPr>
              <a:spcAft>
                <a:spcPts val="600"/>
              </a:spcAft>
            </a:pPr>
            <a:r>
              <a:rPr sz="1900" b="0"/>
              <a:t>⑤ 第五轮 其余六类：固定其他维，每类扫 3~8 个值，锁定各自精确顶点</a:t>
            </a:r>
            <a:endParaRPr sz="1900" b="0"/>
          </a:p>
          <a:p>
            <a:pPr>
              <a:spcAft>
                <a:spcPts val="600"/>
              </a:spcAft>
            </a:pPr>
            <a:r>
              <a:rPr sz="1900" b="0"/>
              <a:t>⑥ 末轮 两两组合微调：发现“单维最优 ≠ 组合最优”，按组合重扫，锁定最终 8 维</a:t>
            </a:r>
            <a:endParaRPr sz="1900" b="0"/>
          </a:p>
          <a:p>
            <a:pPr>
              <a:spcAft>
                <a:spcPts val="200"/>
              </a:spcAft>
            </a:pPr>
            <a:r>
              <a:rPr sz="1800" b="1"/>
              <a:t>通俗说：裁判知道“这批卷子背景题特别多”，把模型答偏低的背景往上拉、答偏高的植被往下压；</a:t>
            </a:r>
            <a:endParaRPr sz="1800" b="1"/>
          </a:p>
          <a:p>
            <a:pPr>
              <a:spcAft>
                <a:spcPts val="200"/>
              </a:spcAft>
            </a:pPr>
            <a:r>
              <a:rPr sz="1800" b="1"/>
              <a:t>拉多少是“边改边看线上成绩”扫出来的，不是拍的。</a:t>
            </a:r>
            <a:endParaRPr sz="18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91440"/>
            <a:ext cx="11887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2800" b="1">
                <a:solidFill>
                  <a:srgbClr val="1F4E79"/>
                </a:solidFill>
              </a:rPr>
              <a:t>关键问题：训练什么时候停？epoch=40 是怎么设计的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262626"/>
                </a:solidFill>
              </a:rPr>
              <a:t>先分清三层——只有第③层“真正的停”在验证集上；①是算出来的，②只是算力预算。</a:t>
            </a:r>
            <a:endParaRPr sz="1600" b="1">
              <a:solidFill>
                <a:srgbClr val="26262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112471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</a:rPr>
              <a:t>① 每轮(epoch)步数 = 算出来的：</a:t>
            </a:r>
            <a:r>
              <a:rPr sz="1500" b="0">
                <a:solidFill>
                  <a:srgbClr val="262626"/>
                </a:solidFill>
              </a:rPr>
              <a:t>5597 张训练图 ÷ 批大小 4 ≈ 1400 步/轮 → 总步数 = 轮数 × 1400</a:t>
            </a:r>
            <a:endParaRPr sz="1500" b="0">
              <a:solidFill>
                <a:srgbClr val="262626"/>
              </a:solidFill>
            </a:endParaRP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</a:rPr>
              <a:t>② 轮数上限 40 = 收敛预算：</a:t>
            </a:r>
            <a:r>
              <a:rPr sz="1500" b="0">
                <a:solidFill>
                  <a:srgbClr val="262626"/>
                </a:solidFill>
              </a:rPr>
              <a:t>继承自试点/框架的既定预算，不是扫 30/40/50 比出来的最优。它只回答“允许跑多久”。</a:t>
            </a:r>
            <a:endParaRPr sz="1500" b="0">
              <a:solidFill>
                <a:srgbClr val="262626"/>
              </a:solidFill>
            </a:endParaRP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</a:rPr>
              <a:t>③ 真正的“停”由验证集决定：</a:t>
            </a:r>
            <a:r>
              <a:rPr sz="1500" b="0">
                <a:solidFill>
                  <a:srgbClr val="262626"/>
                </a:solidFill>
              </a:rPr>
              <a:t>每轮末在验证集 1399 张上评一次 mIoU，创新高才存 best_miou.pt → 全程结束取验证集最高的那一步（隐式早停）</a:t>
            </a:r>
            <a:endParaRPr sz="1500" b="0">
              <a:solidFill>
                <a:srgbClr val="262626"/>
              </a:solidFill>
            </a:endParaRPr>
          </a:p>
          <a:p>
            <a:pPr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</a:rPr>
              <a:t>→ 回答老师：epoch 不是在训练集或验证集上“调”出来的——它只是算力上限(②)；在验证集上做决策的是选模型(③)。</a:t>
            </a:r>
            <a:endParaRPr sz="1500" b="1">
              <a:solidFill>
                <a:srgbClr val="C00000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154680"/>
          <a:ext cx="1124712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/>
                <a:gridCol w="5577840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400" b="1"/>
                        <a:t>老师问“什么时候停”</a:t>
                      </a:r>
                      <a:endParaRPr sz="1400" b="1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 b="1"/>
                        <a:t>答案</a:t>
                      </a:r>
                      <a:endParaRPr sz="1400" b="1"/>
                    </a:p>
                  </a:txBody>
                  <a:tcPr marL="50800" marR="50800" marT="12700" marB="12700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400"/>
                        <a:t>训练循环什么时候停？</a:t>
                      </a:r>
                      <a:endParaRPr sz="14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跑到 56000 步（40轮）预算上限——②</a:t>
                      </a:r>
                      <a:endParaRPr sz="1400"/>
                    </a:p>
                  </a:txBody>
                  <a:tcPr marL="50800" marR="50800" marT="12700" marB="12700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400"/>
                        <a:t>最终模型取哪个？</a:t>
                      </a:r>
                      <a:endParaRPr sz="1400"/>
                    </a:p>
                  </a:txBody>
                  <a:tcPr marL="50800" marR="50800" marT="12700" marB="12700"/>
                </a:tc>
                <a:tc>
                  <a:txBody>
                    <a:bodyPr wrap="square"/>
                    <a:lstStyle/>
                    <a:p>
                      <a:r>
                        <a:rPr sz="1400"/>
                        <a:t>取验证集 mIoU 最高的那一步 best_miou——③</a:t>
                      </a:r>
                      <a:endParaRPr sz="1400"/>
                    </a:p>
                  </a:txBody>
                  <a:tcPr marL="50800" marR="50800" marT="12700" marB="127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43400"/>
            <a:ext cx="11247120" cy="1576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262626"/>
                </a:solidFill>
              </a:rPr>
              <a:t>epoch=40 会不会过拟合？</a:t>
            </a:r>
            <a:endParaRPr sz="1600" b="1">
              <a:solidFill>
                <a:srgbClr val="262626"/>
              </a:solidFill>
            </a:endParaRP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</a:rPr>
              <a:t>不会——报的是验证集最优点而非最后一轮：</a:t>
            </a:r>
            <a:r>
              <a:rPr sz="1500" b="0">
                <a:solidFill>
                  <a:srgbClr val="262626"/>
                </a:solidFill>
              </a:rPr>
              <a:t>若验证集在第 25 轮已见顶，第 40 轮结束时存的仍是 25 轮那个，后面即使过拟合也不覆盖 → epoch 设 40 还是 100 结果几乎一样（只差算力）。</a:t>
            </a:r>
            <a:endParaRPr sz="1500" b="0">
              <a:solidFill>
                <a:srgbClr val="262626"/>
              </a:solidFill>
            </a:endParaRP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262626"/>
                </a:solidFill>
              </a:rPr>
              <a:t>B4/B5 不是死于“跑太多轮”（已被③免疫），而是对“与训练集同分布的验证集”拟合太深 → 验证标准本身失真，减轮救不回：实测 B4 降 lr + drop_path 也只把伤害从 −0.95 压到 −0.118 仍结案。</a:t>
            </a:r>
            <a:endParaRPr sz="1500" b="1">
              <a:solidFill>
                <a:srgbClr val="262626"/>
              </a:solidFill>
            </a:endParaRPr>
          </a:p>
          <a:p>
            <a:pPr>
              <a:spcAft>
                <a:spcPts val="0"/>
              </a:spcAft>
            </a:pPr>
            <a:r>
              <a:rPr sz="1300" b="0">
                <a:solidFill>
                  <a:srgbClr val="7F7F7F"/>
                </a:solidFill>
              </a:rPr>
              <a:t>诚实说明：40 是继承的收敛预算，没单独扫描；能这么“随便给”还稳，正因为质量由 best_miou 兜底、对轮数不敏感。</a:t>
            </a:r>
            <a:endParaRPr sz="1300" b="0">
              <a:solidFill>
                <a:srgbClr val="7F7F7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09728"/>
            <a:ext cx="11704320" cy="731520"/>
          </a:xfrm>
        </p:spPr>
        <p:txBody>
          <a:bodyPr/>
          <a:lstStyle/>
          <a:p>
            <a:r>
              <a:rPr sz="2800" b="1">
                <a:solidFill>
                  <a:srgbClr val="1F4E79"/>
                </a:solidFill>
              </a:rPr>
              <a:t>第八步：输出 &amp; 全链条一句话总结</a:t>
            </a:r>
            <a:endParaRPr sz="2800" b="1">
              <a:solidFill>
                <a:srgbClr val="1F4E79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752" y="932688"/>
            <a:ext cx="11521440" cy="5669280"/>
          </a:xfrm>
        </p:spPr>
        <p:txBody>
          <a:bodyPr wrap="square"/>
          <a:lstStyle/>
          <a:p>
            <a:pPr>
              <a:spcAft>
                <a:spcPts val="600"/>
              </a:spcAft>
            </a:pPr>
            <a:r>
              <a:rPr sz="2000" b="1"/>
              <a:t>输出：每个像素 → 8 类 logits 加校准 bias → softmax → 取最大类 → 该像素类别</a:t>
            </a:r>
            <a:endParaRPr sz="2000" b="1"/>
          </a:p>
          <a:p>
            <a:pPr>
              <a:spcAft>
                <a:spcPts val="1200"/>
              </a:spcAft>
            </a:pPr>
            <a:r>
              <a:rPr sz="2000" b="0"/>
              <a:t>拼成 1024×1024 的最终 8 类分割图 → 按官方格式打包（校验零失败）→ 线上打分</a:t>
            </a:r>
            <a:endParaRPr sz="2000" b="0"/>
          </a:p>
          <a:p>
            <a:pPr>
              <a:spcAft>
                <a:spcPts val="800"/>
              </a:spcAft>
            </a:pPr>
            <a:r>
              <a:rPr sz="2400" b="1"/>
              <a:t>全链条一句话总结：</a:t>
            </a:r>
            <a:endParaRPr sz="2400" b="1"/>
          </a:p>
          <a:p>
            <a:pPr>
              <a:spcAft>
                <a:spcPts val="600"/>
              </a:spcAft>
            </a:pPr>
            <a:r>
              <a:rPr sz="2000" b="1"/>
              <a:t>训练：</a:t>
            </a:r>
            <a:r>
              <a:rPr sz="2000" b="0"/>
              <a:t>6996 张标注图 + 几何增广 + RareCrop + CWFA → 训出 SegFormer-B3（取 best_miou）</a:t>
            </a:r>
            <a:endParaRPr sz="2000" b="0"/>
          </a:p>
          <a:p>
            <a:pPr>
              <a:spcAft>
                <a:spcPts val="1200"/>
              </a:spcAft>
            </a:pPr>
            <a:r>
              <a:rPr sz="2000" b="1"/>
              <a:t>推理：</a:t>
            </a:r>
            <a:r>
              <a:rPr sz="2000" b="0"/>
              <a:t>测试图 → 旋转 TTA8 平均 → 8 类 logits 加校准 bias → softmax → 输出分割图</a:t>
            </a:r>
            <a:endParaRPr sz="2000" b="0"/>
          </a:p>
          <a:p>
            <a:pPr>
              <a:spcAft>
                <a:spcPts val="200"/>
              </a:spcAft>
            </a:pPr>
            <a:r>
              <a:rPr sz="2400" b="1">
                <a:solidFill>
                  <a:srgbClr val="C00000"/>
                </a:solidFill>
              </a:rPr>
              <a:t>分数来源：</a:t>
            </a:r>
            <a:r>
              <a:rPr sz="2400" b="1">
                <a:solidFill>
                  <a:srgbClr val="C00000"/>
                </a:solidFill>
              </a:rPr>
              <a:t>B3 基线 66.7395 + CWFA 训练 +0.632 + TTA8 +0.27~0.47 + 校准 +1.9 = 69.2813</a:t>
            </a:r>
            <a:endParaRPr sz="2400" b="1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4481</Words>
  <Application>WPS 演示</Application>
  <PresentationFormat>宽屏</PresentationFormat>
  <Paragraphs>263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等线 Light</vt:lpstr>
      <vt:lpstr>等线</vt:lpstr>
      <vt:lpstr>微软雅黑</vt:lpstr>
      <vt:lpstr>Arial Unicode MS</vt:lpstr>
      <vt:lpstr>Calibri</vt:lpstr>
      <vt:lpstr>MS PGothic</vt:lpstr>
      <vt:lpstr>Office 主题​​</vt:lpstr>
      <vt:lpstr>最优方案全链条处理流程</vt:lpstr>
      <vt:lpstr>第一部分：训练阶段（训练出模型）</vt:lpstr>
      <vt:lpstr>PowerPoint 演示文稿</vt:lpstr>
      <vt:lpstr>PowerPoint 演示文稿</vt:lpstr>
      <vt:lpstr>PowerPoint 演示文稿</vt:lpstr>
      <vt:lpstr>第二部分：推理阶段</vt:lpstr>
      <vt:lpstr>第五步：预处理 · 标准化（ImageNet 归一化）</vt:lpstr>
      <vt:lpstr>第六步：旋转 TTA8（测试时增广）</vt:lpstr>
      <vt:lpstr>PowerPoint 演示文稿</vt:lpstr>
      <vt:lpstr>第七步（续）：这 8 个 bias 是几十次线上提交扫出来的</vt:lpstr>
      <vt:lpstr>PowerPoint 演示文稿</vt:lpstr>
      <vt:lpstr>第八步：输出 &amp; 全链条一句话总结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1828743874@qq.com</dc:creator>
  <cp:lastModifiedBy>蒋鸿宇</cp:lastModifiedBy>
  <cp:revision>3</cp:revision>
  <dcterms:created xsi:type="dcterms:W3CDTF">2026-09-03T02:23:00Z</dcterms:created>
  <dcterms:modified xsi:type="dcterms:W3CDTF">2026-09-03T03:48:11Z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9712CAD6A19245B1B11C42DFC6247173_12</vt:lpwstr>
  </property>
</Properties>
</file>