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0" autoAdjust="0"/>
    <p:restoredTop sz="94660"/>
  </p:normalViewPr>
  <p:slideViewPr>
    <p:cSldViewPr snapToGrid="0">
      <p:cViewPr varScale="1">
        <p:scale>
          <a:sx n="89" d="100"/>
          <a:sy n="89" d="100"/>
        </p:scale>
        <p:origin x="51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B1C9C-E8E9-629C-C753-CD469A9CC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C9DC2F-F75C-8A4D-B512-89CC4F3C5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784D13-0566-53EE-54DA-970A7067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6601A9-C0E8-E17A-B854-4CC88B92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73A815-DC95-05C0-CE33-D8B986FB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71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AC9AE-82DB-4C57-4635-17A4652E7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721A13-CD56-9B37-413D-8B92122D8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87D81D-1B90-89B2-17CE-99FB10B6A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9EA313-79D3-82DB-705C-249C26067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ACF6D0-3C30-36E6-5F9E-928C3259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42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313805-B9E4-16B9-066F-D990D276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D712E9-1248-E528-976E-8C40AEC30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11A86E-980C-48F2-803B-342BA6460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E55E16-9B9D-592D-24CD-4A631DE2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A26C1D-AD1F-BF16-81E5-3B2E0F596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091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EE920-D4E6-1A13-4A04-10F0704A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785CD7-6959-41E9-048E-F7A4E547F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C346D1-56EA-CA1F-B462-88D023DD3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0639C7-583B-4C2E-2797-D77FA012F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F2A8EE-4F91-6888-ACAF-B71AE823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4EE621-D557-737E-2EB2-9CF6E8D8A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147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C4701D-70C1-847D-5DDF-4EE3ABDB8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E4035F-11C1-2EDB-5EF3-31E263C37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F37FAC-82EE-BF30-96EA-FD1B1B331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923ABA-3A17-69AF-0A9D-DBEA23A40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5117A39-DCDC-88EF-7221-14D741974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4B35303-40C7-96A7-4055-0DDE7420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9E66C53-9F57-DCB8-6507-1E944DE13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DB58196-0FF8-615A-0C4D-6F7F1770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632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FA786-DEBD-2A24-B9A1-6F9B5EF0A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2106BF-1734-C50E-2721-62612AF85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FE5684-D7D7-D160-A9EC-0183C1B31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FF9A87-7B72-CB62-E7A3-2FD707617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36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24B6A5-F71D-D85E-E666-C57AC7B80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ACE89C9-77E2-2D43-0439-15862361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16B859-9A00-7EB0-B3F7-1875DF655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268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34645F-7A68-DBD0-3282-6066E0D53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D4CE34-C66A-D849-7559-667FB93E4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9DEDA6-1627-F148-74DB-A161BA130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E50962-69D0-D05A-3F18-CD0E96CAF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DB2154-AC10-CE78-B257-11199B491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F92E49-EF34-41BC-4346-C1244FBBA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26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3D9EE-F862-7677-CF0C-AA358C7B3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D593A1C-901C-5880-BAAB-A2E69A4E8C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56BF69-DB03-0DF0-13F0-BC579C31B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14B865-F096-1BA5-D920-621F18195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B59917-4F3B-115E-D3BE-200DEAE0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5A0372-7888-F912-6851-1DF2711D1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365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CC8B8-9D41-9E9D-D862-70C56AEA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7CC1AA-5927-84A8-07AC-8EB597A06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F62E04-EAFC-C5C5-C3E2-0D78640F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8E106B-0869-C5C9-20E9-BF5921E34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373DD5-5F74-6B44-F33B-40ACA327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37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A7C417C-4A23-3653-C514-65934744D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835164-191E-D262-A843-DAFD91432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18A775-AD61-DF68-8566-62C1E11BB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C219E5-6A7D-7045-9740-EA2048C45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E56AE4-26C7-31BD-3FC7-46B5FF4E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658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D1E01B-58C3-5874-1B3D-97AF2640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ABDD05-0597-A389-D0B5-B2622772E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640FCE-82CA-904F-0A0A-CA65A169F1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97980-ED44-446C-B1D2-CEF9B4AA763C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565E36-946C-BDCE-DBDB-05245E5D6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10C570-926A-9E89-17E8-005253681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12D6F-5360-42C1-9823-808EBAB5C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291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81EA20-303E-CF18-74F3-7833D31B0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1802" y="121902"/>
            <a:ext cx="9144000" cy="1478298"/>
          </a:xfrm>
        </p:spPr>
        <p:txBody>
          <a:bodyPr/>
          <a:lstStyle/>
          <a:p>
            <a:r>
              <a:rPr lang="en-US" altLang="zh-CN" b="1" dirty="0" err="1"/>
              <a:t>最优方案全链条处理流程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D0F1E3-7702-5B30-50DD-F9509498150A}"/>
              </a:ext>
            </a:extLst>
          </p:cNvPr>
          <p:cNvSpPr txBox="1"/>
          <p:nvPr/>
        </p:nvSpPr>
        <p:spPr>
          <a:xfrm>
            <a:off x="1914861" y="2065468"/>
            <a:ext cx="72775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最优方案线上</a:t>
            </a:r>
            <a:r>
              <a:rPr lang="en-US" altLang="zh-CN" dirty="0"/>
              <a:t> </a:t>
            </a:r>
            <a:r>
              <a:rPr lang="en-US" altLang="zh-CN" dirty="0" err="1"/>
              <a:t>mIoU</a:t>
            </a:r>
            <a:r>
              <a:rPr lang="en-US" altLang="zh-CN" dirty="0"/>
              <a:t> = 69.2813。整个系统分成两大部分：</a:t>
            </a:r>
            <a:endParaRPr lang="zh-CN" altLang="zh-CN" dirty="0"/>
          </a:p>
          <a:p>
            <a:pPr lvl="0"/>
            <a:r>
              <a:rPr lang="en-US" altLang="zh-CN" dirty="0"/>
              <a:t>① </a:t>
            </a:r>
            <a:r>
              <a:rPr lang="en-US" altLang="zh-CN" dirty="0" err="1"/>
              <a:t>训练阶段：用</a:t>
            </a:r>
            <a:r>
              <a:rPr lang="en-US" altLang="zh-CN" dirty="0"/>
              <a:t> 6996 </a:t>
            </a:r>
            <a:r>
              <a:rPr lang="en-US" altLang="zh-CN" dirty="0" err="1"/>
              <a:t>张带标注训练图训练一个分割模型</a:t>
            </a:r>
            <a:endParaRPr lang="zh-CN" altLang="zh-CN" dirty="0"/>
          </a:p>
          <a:p>
            <a:pPr lvl="0"/>
            <a:r>
              <a:rPr lang="en-US" altLang="zh-CN" dirty="0"/>
              <a:t>② </a:t>
            </a:r>
            <a:r>
              <a:rPr lang="en-US" altLang="zh-CN" dirty="0" err="1"/>
              <a:t>推理阶段：对</a:t>
            </a:r>
            <a:r>
              <a:rPr lang="en-US" altLang="zh-CN" dirty="0"/>
              <a:t> 1 </a:t>
            </a:r>
            <a:r>
              <a:rPr lang="en-US" altLang="zh-CN" dirty="0" err="1"/>
              <a:t>张测试图，经过预处理→模型→TTA→校准，输出最终</a:t>
            </a:r>
            <a:r>
              <a:rPr lang="en-US" altLang="zh-CN" dirty="0"/>
              <a:t> 8 </a:t>
            </a:r>
            <a:r>
              <a:rPr lang="en-US" altLang="zh-CN" dirty="0" err="1"/>
              <a:t>类分割图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7749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172DE9-FD79-27AA-0769-AFE3D69C2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397"/>
            <a:ext cx="5621767" cy="920414"/>
          </a:xfrm>
        </p:spPr>
        <p:txBody>
          <a:bodyPr>
            <a:normAutofit/>
          </a:bodyPr>
          <a:lstStyle/>
          <a:p>
            <a:r>
              <a:rPr lang="zh-CN" altLang="zh-CN" sz="2800" dirty="0"/>
              <a:t>第一部分：训练阶段（训练出模型）</a:t>
            </a:r>
            <a:endParaRPr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5AD02F-8D14-8DF5-F213-B5A37A671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428" y="806823"/>
            <a:ext cx="10751372" cy="1446904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 err="1"/>
              <a:t>第一步：数据进入</a:t>
            </a:r>
            <a:endParaRPr lang="zh-CN" altLang="zh-CN" b="1" dirty="0"/>
          </a:p>
          <a:p>
            <a:pPr marL="0" lvl="0" indent="0">
              <a:buNone/>
            </a:pPr>
            <a:r>
              <a:rPr lang="zh-CN" altLang="zh-CN" sz="2400" dirty="0"/>
              <a:t>输入：</a:t>
            </a:r>
            <a:r>
              <a:rPr lang="en-US" altLang="zh-CN" sz="2400" dirty="0"/>
              <a:t>6996 </a:t>
            </a:r>
            <a:r>
              <a:rPr lang="zh-CN" altLang="zh-CN" sz="2400" dirty="0"/>
              <a:t>张</a:t>
            </a:r>
            <a:r>
              <a:rPr lang="en-US" altLang="zh-CN" sz="2400" dirty="0"/>
              <a:t> 1024×1024 </a:t>
            </a:r>
            <a:r>
              <a:rPr lang="zh-CN" altLang="zh-CN" sz="2400" dirty="0"/>
              <a:t>训练航拍图</a:t>
            </a:r>
            <a:r>
              <a:rPr lang="en-US" altLang="zh-CN" sz="2400" dirty="0"/>
              <a:t> + </a:t>
            </a:r>
            <a:r>
              <a:rPr lang="zh-CN" altLang="zh-CN" sz="2400" dirty="0"/>
              <a:t>对应</a:t>
            </a:r>
            <a:r>
              <a:rPr lang="en-US" altLang="zh-CN" sz="2400" dirty="0"/>
              <a:t> 8 </a:t>
            </a:r>
            <a:r>
              <a:rPr lang="zh-CN" altLang="zh-CN" sz="2400" dirty="0"/>
              <a:t>类标注图</a:t>
            </a:r>
          </a:p>
          <a:p>
            <a:pPr marL="0" lvl="0" indent="0">
              <a:buNone/>
            </a:pPr>
            <a:r>
              <a:rPr lang="zh-CN" altLang="zh-CN" sz="2400" dirty="0"/>
              <a:t>数据划分：训练</a:t>
            </a:r>
            <a:r>
              <a:rPr lang="en-US" altLang="zh-CN" sz="2400" dirty="0"/>
              <a:t> 5597</a:t>
            </a:r>
            <a:r>
              <a:rPr lang="zh-CN" altLang="zh-CN" sz="2400" dirty="0"/>
              <a:t>张</a:t>
            </a:r>
            <a:r>
              <a:rPr lang="en-US" altLang="zh-CN" sz="2400" dirty="0"/>
              <a:t> / </a:t>
            </a:r>
            <a:r>
              <a:rPr lang="zh-CN" altLang="zh-CN" sz="2400" dirty="0"/>
              <a:t>验证</a:t>
            </a:r>
            <a:r>
              <a:rPr lang="en-US" altLang="zh-CN" sz="2400" dirty="0"/>
              <a:t> 1399 </a:t>
            </a:r>
            <a:r>
              <a:rPr lang="zh-CN" altLang="zh-CN" sz="2400" dirty="0"/>
              <a:t>张</a:t>
            </a:r>
            <a:r>
              <a:rPr lang="en-US" altLang="zh-CN" sz="2400" dirty="0"/>
              <a:t>(</a:t>
            </a:r>
            <a:r>
              <a:rPr lang="en-US" altLang="zh-CN" sz="2400" dirty="0" err="1"/>
              <a:t>ps</a:t>
            </a:r>
            <a:r>
              <a:rPr lang="en-US" altLang="zh-CN" sz="2400" dirty="0"/>
              <a:t>:</a:t>
            </a:r>
            <a:r>
              <a:rPr lang="zh-CN" altLang="en-US" sz="2400" dirty="0"/>
              <a:t>按照机器学习惯例</a:t>
            </a:r>
            <a:r>
              <a:rPr lang="en-US" altLang="zh-CN" sz="2400" dirty="0"/>
              <a:t>8:2</a:t>
            </a:r>
            <a:r>
              <a:rPr lang="zh-CN" altLang="en-US" sz="2400" dirty="0"/>
              <a:t>划分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6E0D5B-7EEA-18CC-CB20-03EC691B9AB6}"/>
              </a:ext>
            </a:extLst>
          </p:cNvPr>
          <p:cNvSpPr txBox="1"/>
          <p:nvPr/>
        </p:nvSpPr>
        <p:spPr>
          <a:xfrm>
            <a:off x="602428" y="2253727"/>
            <a:ext cx="1106961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第二步：</a:t>
            </a:r>
            <a:r>
              <a:rPr lang="en-US" altLang="zh-CN" sz="2800" b="1" dirty="0" err="1"/>
              <a:t>分层采样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stratified</a:t>
            </a:r>
            <a:r>
              <a:rPr lang="zh-CN" altLang="en-US" sz="2800" b="1" dirty="0"/>
              <a:t>）</a:t>
            </a:r>
            <a:endParaRPr lang="en-US" altLang="zh-CN" sz="2800" b="1" dirty="0"/>
          </a:p>
          <a:p>
            <a:pPr lvl="0"/>
            <a:r>
              <a:rPr lang="zh-CN" altLang="en-US" sz="2400" b="1" dirty="0"/>
              <a:t>做法：</a:t>
            </a:r>
            <a:endParaRPr lang="en-US" altLang="zh-CN" sz="2400" b="1" dirty="0"/>
          </a:p>
          <a:p>
            <a:pPr lvl="0"/>
            <a:r>
              <a:rPr lang="en-US" altLang="zh-CN" sz="2400" dirty="0"/>
              <a:t>① </a:t>
            </a:r>
            <a:r>
              <a:rPr lang="en-US" altLang="zh-CN" sz="2400" dirty="0" err="1"/>
              <a:t>给每张图算一个"包含哪些类"的组合编码（combination</a:t>
            </a:r>
            <a:r>
              <a:rPr lang="en-US" altLang="zh-CN" sz="2400" dirty="0"/>
              <a:t>），</a:t>
            </a:r>
            <a:r>
              <a:rPr lang="en-US" altLang="zh-CN" sz="2400" dirty="0" err="1"/>
              <a:t>例如图A</a:t>
            </a:r>
            <a:r>
              <a:rPr lang="en-US" altLang="zh-CN" sz="2400" dirty="0"/>
              <a:t>=</a:t>
            </a:r>
            <a:r>
              <a:rPr lang="en-US" altLang="zh-CN" sz="2400" dirty="0" err="1"/>
              <a:t>背景+道路+车辆、图B</a:t>
            </a:r>
            <a:r>
              <a:rPr lang="en-US" altLang="zh-CN" sz="2400" dirty="0"/>
              <a:t>=</a:t>
            </a:r>
            <a:r>
              <a:rPr lang="en-US" altLang="zh-CN" sz="2400" dirty="0" err="1"/>
              <a:t>农田+植被</a:t>
            </a:r>
            <a:endParaRPr lang="zh-CN" altLang="zh-CN" sz="2400" dirty="0"/>
          </a:p>
          <a:p>
            <a:pPr lvl="0"/>
            <a:r>
              <a:rPr lang="en-US" altLang="zh-CN" sz="2400" dirty="0"/>
              <a:t>② </a:t>
            </a:r>
            <a:r>
              <a:rPr lang="en-US" altLang="zh-CN" sz="2400" dirty="0" err="1"/>
              <a:t>按这个组合分组</a:t>
            </a:r>
            <a:endParaRPr lang="zh-CN" altLang="zh-CN" sz="2400" dirty="0"/>
          </a:p>
          <a:p>
            <a:pPr lvl="0"/>
            <a:r>
              <a:rPr lang="en-US" altLang="zh-CN" sz="2400" dirty="0"/>
              <a:t>③ </a:t>
            </a:r>
            <a:r>
              <a:rPr lang="en-US" altLang="zh-CN" sz="2400" dirty="0" err="1"/>
              <a:t>每个组内按</a:t>
            </a:r>
            <a:r>
              <a:rPr lang="en-US" altLang="zh-CN" sz="2400" dirty="0"/>
              <a:t> 20% 比例算出"</a:t>
            </a:r>
            <a:r>
              <a:rPr lang="en-US" altLang="zh-CN" sz="2400" dirty="0" err="1"/>
              <a:t>该组应进验证集的配额</a:t>
            </a:r>
            <a:r>
              <a:rPr lang="en-US" altLang="zh-CN" sz="2400" dirty="0"/>
              <a:t>"，</a:t>
            </a:r>
            <a:r>
              <a:rPr lang="en-US" altLang="zh-CN" sz="2400" dirty="0" err="1"/>
              <a:t>用最大余数法凑整保证总数恰好</a:t>
            </a:r>
            <a:r>
              <a:rPr lang="en-US" altLang="zh-CN" sz="2400" dirty="0"/>
              <a:t> 1399</a:t>
            </a:r>
          </a:p>
          <a:p>
            <a:pPr lvl="0"/>
            <a:r>
              <a:rPr lang="en-US" altLang="zh-CN" sz="2400" dirty="0"/>
              <a:t>④ </a:t>
            </a:r>
            <a:r>
              <a:rPr lang="en-US" altLang="zh-CN" sz="2400" dirty="0" err="1"/>
              <a:t>组内随机抽这么多张进验证集，其余进训练集</a:t>
            </a:r>
            <a:endParaRPr lang="zh-CN" altLang="zh-CN" sz="2400" dirty="0"/>
          </a:p>
          <a:p>
            <a:r>
              <a:rPr lang="zh-CN" altLang="en-US" sz="2400" b="1" dirty="0"/>
              <a:t>效果：</a:t>
            </a:r>
            <a:endParaRPr lang="en-US" altLang="zh-CN" sz="2400" b="1" dirty="0"/>
          </a:p>
          <a:p>
            <a:r>
              <a:rPr lang="en-US" altLang="zh-CN" sz="2400" dirty="0" err="1"/>
              <a:t>保证验证集与训练集同类别分布</a:t>
            </a:r>
            <a:r>
              <a:rPr lang="zh-CN" altLang="en-US" sz="2400" dirty="0"/>
              <a:t>，但</a:t>
            </a:r>
            <a:r>
              <a:rPr lang="en-US" altLang="zh-CN" sz="2400" dirty="0"/>
              <a:t>验证集只反映"</a:t>
            </a:r>
            <a:r>
              <a:rPr lang="en-US" altLang="zh-CN" sz="2400" dirty="0" err="1"/>
              <a:t>模型在训练域拟合得好不好</a:t>
            </a:r>
            <a:r>
              <a:rPr lang="en-US" altLang="zh-CN" sz="2400" dirty="0"/>
              <a:t>"，测不出"</a:t>
            </a:r>
            <a:r>
              <a:rPr lang="en-US" altLang="zh-CN" sz="2400" dirty="0" err="1"/>
              <a:t>换一个分布能否泛化</a:t>
            </a:r>
            <a:r>
              <a:rPr lang="en-US" altLang="zh-CN" sz="2400" dirty="0"/>
              <a:t>"。</a:t>
            </a:r>
            <a:r>
              <a:rPr lang="en-US" altLang="zh-CN" sz="2400" dirty="0" err="1"/>
              <a:t>这正是本地分一直与线上分背离的根因</a:t>
            </a:r>
            <a:r>
              <a:rPr lang="en-US" altLang="zh-CN" sz="2400" dirty="0"/>
              <a:t>。</a:t>
            </a:r>
          </a:p>
          <a:p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             </a:t>
            </a:r>
          </a:p>
        </p:txBody>
      </p:sp>
    </p:spTree>
    <p:extLst>
      <p:ext uri="{BB962C8B-B14F-4D97-AF65-F5344CB8AC3E}">
        <p14:creationId xmlns:p14="http://schemas.microsoft.com/office/powerpoint/2010/main" val="59396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2703D0-FD5F-0985-ECC0-AB4EC32A2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713" y="281902"/>
            <a:ext cx="10515600" cy="65223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第三步：</a:t>
            </a:r>
            <a:r>
              <a:rPr lang="en-US" altLang="zh-CN" b="1" dirty="0" err="1"/>
              <a:t>训练时的数据增广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lvl="0" indent="0">
              <a:buNone/>
            </a:pPr>
            <a:endParaRPr lang="en-US" altLang="zh-CN" sz="2000" b="1" dirty="0"/>
          </a:p>
          <a:p>
            <a:pPr marL="0" lvl="0" indent="0">
              <a:buNone/>
            </a:pPr>
            <a:r>
              <a:rPr lang="zh-CN" altLang="en-US" sz="2000" b="1" dirty="0"/>
              <a:t>做法：（</a:t>
            </a:r>
            <a:r>
              <a:rPr lang="en-US" altLang="zh-CN" sz="2000" b="1" dirty="0" err="1"/>
              <a:t>在线增广，不增加图片数量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marL="0" lvl="0" indent="0">
              <a:buNone/>
            </a:pPr>
            <a:r>
              <a:rPr lang="en-US" altLang="zh-CN" sz="2000" dirty="0"/>
              <a:t>1.磁盘上仍是 6996 </a:t>
            </a:r>
            <a:r>
              <a:rPr lang="en-US" altLang="zh-CN" sz="2000" dirty="0" err="1"/>
              <a:t>张原图文件，一张没改、没复制</a:t>
            </a:r>
            <a:r>
              <a:rPr lang="en-US" altLang="zh-CN" sz="2000" dirty="0"/>
              <a:t>——</a:t>
            </a:r>
            <a:r>
              <a:rPr lang="en-US" altLang="zh-CN" sz="2000" dirty="0" err="1"/>
              <a:t>物理上不增加训练集数量</a:t>
            </a:r>
            <a:endParaRPr lang="zh-CN" altLang="zh-CN" sz="2000" dirty="0"/>
          </a:p>
          <a:p>
            <a:pPr marL="0" lvl="0" indent="0">
              <a:buNone/>
            </a:pPr>
            <a:r>
              <a:rPr lang="en-US" altLang="zh-CN" sz="2000" dirty="0"/>
              <a:t>2.每次把图读进内存喂给模型前，按 50% </a:t>
            </a:r>
            <a:r>
              <a:rPr lang="en-US" altLang="zh-CN" sz="2000" dirty="0" err="1"/>
              <a:t>概率随机掷硬币决定：翻不翻？转不转？裁哪里</a:t>
            </a:r>
            <a:r>
              <a:rPr lang="en-US" altLang="zh-CN" sz="2000" dirty="0"/>
              <a:t>？</a:t>
            </a:r>
            <a:endParaRPr lang="zh-CN" altLang="zh-CN" sz="2000" dirty="0"/>
          </a:p>
          <a:p>
            <a:pPr marL="0" lvl="0" indent="0">
              <a:buNone/>
            </a:pPr>
            <a:r>
              <a:rPr lang="en-US" altLang="zh-CN" sz="2000" dirty="0"/>
              <a:t>3.一张图在一个 epoch </a:t>
            </a:r>
            <a:r>
              <a:rPr lang="en-US" altLang="zh-CN" sz="2000" dirty="0" err="1"/>
              <a:t>内只被读一次，所以一个</a:t>
            </a:r>
            <a:r>
              <a:rPr lang="en-US" altLang="zh-CN" sz="2000" dirty="0"/>
              <a:t> epoch </a:t>
            </a:r>
            <a:r>
              <a:rPr lang="en-US" altLang="zh-CN" sz="2000" dirty="0" err="1"/>
              <a:t>内每个样本只变形一次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4.但 40 </a:t>
            </a:r>
            <a:r>
              <a:rPr lang="en-US" altLang="zh-CN" sz="2000" dirty="0" err="1"/>
              <a:t>轮下来，同一张原图被变形</a:t>
            </a:r>
            <a:r>
              <a:rPr lang="en-US" altLang="zh-CN" sz="2000" dirty="0"/>
              <a:t> 40 次不同形态（这轮翻转、下轮旋转90°、再下轮旋转180°又翻转……</a:t>
            </a:r>
            <a:r>
              <a:rPr lang="en-US" altLang="zh-CN" sz="2000" dirty="0" err="1"/>
              <a:t>每次随机</a:t>
            </a:r>
            <a:r>
              <a:rPr lang="en-US" altLang="zh-CN" sz="2000" dirty="0"/>
              <a:t>）</a:t>
            </a:r>
          </a:p>
          <a:p>
            <a:pPr marL="0" indent="0">
              <a:buNone/>
            </a:pPr>
            <a:r>
              <a:rPr lang="zh-CN" altLang="en-US" sz="2000" b="1" dirty="0"/>
              <a:t>效果：</a:t>
            </a:r>
            <a:r>
              <a:rPr lang="en-US" altLang="zh-CN" sz="2000" dirty="0" err="1"/>
              <a:t>模型</a:t>
            </a:r>
            <a:r>
              <a:rPr lang="en-US" altLang="zh-CN" sz="2000" dirty="0"/>
              <a:t> 40 </a:t>
            </a:r>
            <a:r>
              <a:rPr lang="en-US" altLang="zh-CN" sz="2000" dirty="0" err="1"/>
              <a:t>轮实际见过的有效形态</a:t>
            </a:r>
            <a:r>
              <a:rPr lang="en-US" altLang="zh-CN" sz="2000" dirty="0"/>
              <a:t> ≈ 5597 × 40 </a:t>
            </a:r>
            <a:r>
              <a:rPr lang="en-US" altLang="zh-CN" sz="2000" dirty="0" err="1"/>
              <a:t>种，远大于原始张数</a:t>
            </a:r>
            <a:r>
              <a:rPr lang="en-US" altLang="zh-CN" sz="2000" dirty="0"/>
              <a:t>——</a:t>
            </a:r>
            <a:r>
              <a:rPr lang="en-US" altLang="zh-CN" sz="2000" dirty="0" err="1"/>
              <a:t>没有增加图片数量，增加的是每个样本的形态多样性，让模型学到方向无关的本质特征</a:t>
            </a:r>
            <a:r>
              <a:rPr lang="en-US" altLang="zh-CN" sz="2000" dirty="0"/>
              <a:t>。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b="1" dirty="0"/>
              <a:t>Ps:</a:t>
            </a:r>
            <a:r>
              <a:rPr lang="zh-CN" altLang="en-US" sz="2000" dirty="0"/>
              <a:t>此处</a:t>
            </a:r>
            <a:r>
              <a:rPr lang="en-US" altLang="zh-CN" sz="2000" dirty="0"/>
              <a:t>50% </a:t>
            </a:r>
            <a:r>
              <a:rPr lang="en-US" altLang="zh-CN" sz="2000" dirty="0" err="1"/>
              <a:t>是分割任务的经验默认值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 </a:t>
            </a:r>
            <a:r>
              <a:rPr lang="zh-CN" altLang="en-US" sz="2000" dirty="0"/>
              <a:t>我们之前试过</a:t>
            </a:r>
            <a:r>
              <a:rPr lang="en-US" altLang="zh-CN" sz="2000" dirty="0" err="1"/>
              <a:t>颜色增广</a:t>
            </a:r>
            <a:r>
              <a:rPr lang="en-US" altLang="zh-CN" sz="2000" dirty="0"/>
              <a:t>/</a:t>
            </a:r>
            <a:r>
              <a:rPr lang="en-US" altLang="zh-CN" sz="2000" dirty="0" err="1"/>
              <a:t>CopyPaste</a:t>
            </a:r>
            <a:r>
              <a:rPr lang="en-US" altLang="zh-CN" sz="2000" dirty="0"/>
              <a:t> </a:t>
            </a:r>
            <a:r>
              <a:rPr lang="en-US" altLang="zh-CN" sz="2000" dirty="0" err="1"/>
              <a:t>粘贴全被线上判死</a:t>
            </a:r>
            <a:r>
              <a:rPr lang="zh-CN" altLang="en-US" sz="2000" dirty="0"/>
              <a:t>：</a:t>
            </a:r>
            <a:r>
              <a:rPr lang="en-US" altLang="zh-CN" sz="2000" dirty="0" err="1"/>
              <a:t>CopyPaste</a:t>
            </a:r>
            <a:r>
              <a:rPr lang="en-US" altLang="zh-CN" sz="2000" dirty="0"/>
              <a:t> −0.311</a:t>
            </a:r>
            <a:r>
              <a:rPr lang="zh-CN" altLang="en-US" sz="2000" dirty="0"/>
              <a:t>（</a:t>
            </a:r>
            <a:endParaRPr lang="zh-CN" altLang="zh-CN" sz="2000" dirty="0"/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BFAF6C-0FEB-18E0-9892-41E95B986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270" y="642283"/>
            <a:ext cx="5847029" cy="245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FF4DE5-EA8C-5283-932E-D035B2454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" y="155987"/>
            <a:ext cx="10515600" cy="28615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b="1" dirty="0"/>
              <a:t>第四步：</a:t>
            </a:r>
            <a:r>
              <a:rPr lang="en-US" altLang="zh-CN" b="1" dirty="0" err="1"/>
              <a:t>模型前向</a:t>
            </a:r>
            <a:endParaRPr lang="en-US" altLang="zh-CN" b="1" dirty="0"/>
          </a:p>
          <a:p>
            <a:pPr marL="0" lvl="0" indent="0">
              <a:buNone/>
            </a:pPr>
            <a:r>
              <a:rPr lang="en-US" altLang="zh-CN" sz="2000" dirty="0"/>
              <a:t>1.模型：SegFormer-B3（Transformer </a:t>
            </a:r>
            <a:r>
              <a:rPr lang="en-US" altLang="zh-CN" sz="2000" dirty="0" err="1"/>
              <a:t>分割网络，预训练于</a:t>
            </a:r>
            <a:r>
              <a:rPr lang="en-US" altLang="zh-CN" sz="2000" dirty="0"/>
              <a:t> ADE20k 150类，微调成 8 类）</a:t>
            </a:r>
            <a:endParaRPr lang="zh-CN" altLang="zh-CN" sz="2000" dirty="0"/>
          </a:p>
          <a:p>
            <a:pPr marL="0" lvl="0" indent="0">
              <a:buNone/>
            </a:pPr>
            <a:r>
              <a:rPr lang="en-US" altLang="zh-CN" sz="2000" dirty="0"/>
              <a:t>2.输入被切成 1024×1024，进 4 层编码器，逐层下采样（1/4→1/8→1/16→1/32）</a:t>
            </a:r>
            <a:endParaRPr lang="zh-CN" altLang="zh-CN" sz="2000" dirty="0"/>
          </a:p>
          <a:p>
            <a:pPr marL="0" lvl="0" indent="0">
              <a:buNone/>
            </a:pPr>
            <a:r>
              <a:rPr lang="en-US" altLang="zh-CN" sz="2000" dirty="0"/>
              <a:t>3.只用最深层(1/32)</a:t>
            </a:r>
            <a:r>
              <a:rPr lang="en-US" altLang="zh-CN" sz="2000" dirty="0" err="1"/>
              <a:t>特征进解码器，解码器把低分辨率特征上采样回</a:t>
            </a:r>
            <a:r>
              <a:rPr lang="en-US" altLang="zh-CN" sz="2000" dirty="0"/>
              <a:t> 1024×1024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4.输出：每个像素在 8 </a:t>
            </a:r>
            <a:r>
              <a:rPr lang="en-US" altLang="zh-CN" sz="2000" dirty="0" err="1"/>
              <a:t>类上的分数（logits</a:t>
            </a:r>
            <a:r>
              <a:rPr lang="en-US" altLang="zh-CN" sz="2000" dirty="0"/>
              <a:t>），</a:t>
            </a:r>
            <a:r>
              <a:rPr lang="en-US" altLang="zh-CN" sz="2000" dirty="0" err="1"/>
              <a:t>softmax</a:t>
            </a:r>
            <a:r>
              <a:rPr lang="en-US" altLang="zh-CN" sz="2000" dirty="0"/>
              <a:t> </a:t>
            </a:r>
            <a:r>
              <a:rPr lang="en-US" altLang="zh-CN" sz="2000" dirty="0" err="1"/>
              <a:t>后取最大类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该像素类别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200" b="1" dirty="0"/>
          </a:p>
          <a:p>
            <a:pPr marL="0" indent="0">
              <a:buNone/>
            </a:pPr>
            <a:r>
              <a:rPr lang="en-US" altLang="zh-CN" sz="2200" b="1" dirty="0" err="1"/>
              <a:t>训练时的关键机制：CWFA</a:t>
            </a:r>
            <a:r>
              <a:rPr lang="en-US" altLang="zh-CN" sz="2200" b="1" dirty="0"/>
              <a:t> </a:t>
            </a:r>
            <a:r>
              <a:rPr lang="en-US" altLang="zh-CN" sz="2200" b="1" dirty="0" err="1"/>
              <a:t>通道级特征增广</a:t>
            </a:r>
            <a:endParaRPr lang="en-US" altLang="zh-CN" sz="2200" b="1" dirty="0"/>
          </a:p>
          <a:p>
            <a:pPr marL="0" indent="0">
              <a:buNone/>
            </a:pPr>
            <a:endParaRPr lang="zh-CN" altLang="zh-CN" dirty="0"/>
          </a:p>
          <a:p>
            <a:pPr marL="0" lvl="0" indent="0">
              <a:buNone/>
            </a:pPr>
            <a:endParaRPr lang="zh-CN" altLang="zh-CN" sz="2200" dirty="0"/>
          </a:p>
          <a:p>
            <a:pPr marL="0" indent="0">
              <a:buNone/>
            </a:pPr>
            <a:endParaRPr lang="zh-CN" altLang="zh-CN" sz="2200" b="1" dirty="0"/>
          </a:p>
          <a:p>
            <a:pPr marL="0" indent="0">
              <a:buNone/>
            </a:pPr>
            <a:endParaRPr lang="zh-CN" altLang="en-US" sz="20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79EE25C-6588-5216-8A63-D3B4A8E5E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797" y="2263915"/>
            <a:ext cx="5953282" cy="233017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33CFB84-B62C-0F07-8AAC-1B56BD7A0BC2}"/>
              </a:ext>
            </a:extLst>
          </p:cNvPr>
          <p:cNvSpPr txBox="1"/>
          <p:nvPr/>
        </p:nvSpPr>
        <p:spPr>
          <a:xfrm>
            <a:off x="234877" y="3017520"/>
            <a:ext cx="57714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模型不是一步出结果：编码器把图逐层下采样成一张特征图（如</a:t>
            </a:r>
            <a:r>
              <a:rPr lang="en-US" altLang="zh-CN" sz="2000" dirty="0"/>
              <a:t> 32×32 </a:t>
            </a:r>
            <a:r>
              <a:rPr lang="en-US" altLang="zh-CN" sz="2000" dirty="0" err="1"/>
              <a:t>格，每格一个</a:t>
            </a:r>
            <a:r>
              <a:rPr lang="en-US" altLang="zh-CN" sz="2000" dirty="0"/>
              <a:t> 768 </a:t>
            </a:r>
            <a:r>
              <a:rPr lang="en-US" altLang="zh-CN" sz="2000" dirty="0" err="1"/>
              <a:t>维向量描述"这片地像什么</a:t>
            </a:r>
            <a:r>
              <a:rPr lang="en-US" altLang="zh-CN" sz="2000" dirty="0"/>
              <a:t>"），</a:t>
            </a:r>
            <a:r>
              <a:rPr lang="en-US" altLang="zh-CN" sz="2000" dirty="0" err="1"/>
              <a:t>再喂解码器放大回</a:t>
            </a:r>
            <a:r>
              <a:rPr lang="en-US" altLang="zh-CN" sz="2000" dirty="0"/>
              <a:t> 1024×1024 </a:t>
            </a:r>
            <a:r>
              <a:rPr lang="en-US" altLang="zh-CN" sz="2000" dirty="0" err="1"/>
              <a:t>逐像素判断类别。CWFA</a:t>
            </a:r>
            <a:r>
              <a:rPr lang="en-US" altLang="zh-CN" sz="2000" dirty="0"/>
              <a:t> </a:t>
            </a:r>
            <a:r>
              <a:rPr lang="en-US" altLang="zh-CN" sz="2000" dirty="0" err="1"/>
              <a:t>就插在"特征图算好、还没喂解码器"之间</a:t>
            </a:r>
            <a:r>
              <a:rPr lang="en-US" altLang="zh-CN" sz="2000" dirty="0"/>
              <a:t>——</a:t>
            </a:r>
            <a:r>
              <a:rPr lang="en-US" altLang="zh-CN" sz="2000" dirty="0" err="1"/>
              <a:t>把特征改一改再往下传</a:t>
            </a:r>
            <a:r>
              <a:rPr lang="en-US" altLang="zh-CN" sz="2000" dirty="0"/>
              <a:t>。</a:t>
            </a:r>
            <a:endParaRPr lang="zh-CN" altLang="zh-CN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18505D0-0FCB-4AAD-15BC-5E678419F0D4}"/>
              </a:ext>
            </a:extLst>
          </p:cNvPr>
          <p:cNvSpPr txBox="1"/>
          <p:nvPr/>
        </p:nvSpPr>
        <p:spPr>
          <a:xfrm>
            <a:off x="234877" y="5056094"/>
            <a:ext cx="1087598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做法：</a:t>
            </a:r>
            <a:r>
              <a:rPr lang="en-US" altLang="zh-CN" sz="2000" dirty="0" err="1"/>
              <a:t>凭真值标签改：训练时每张图有标准答案（每像素是车还是路</a:t>
            </a:r>
            <a:r>
              <a:rPr lang="en-US" altLang="zh-CN" sz="2000" dirty="0"/>
              <a:t>），</a:t>
            </a:r>
            <a:r>
              <a:rPr lang="en-US" altLang="zh-CN" sz="2000" dirty="0" err="1"/>
              <a:t>所以我们知道特征图上哪个格子属于哪类。于是按类把特征收堆</a:t>
            </a:r>
            <a:r>
              <a:rPr lang="en-US" altLang="zh-CN" sz="2000" dirty="0"/>
              <a:t>：</a:t>
            </a:r>
            <a:endParaRPr lang="zh-CN" altLang="zh-CN" sz="2000" dirty="0"/>
          </a:p>
          <a:p>
            <a:pPr lvl="0"/>
            <a:r>
              <a:rPr lang="en-US" altLang="zh-CN" sz="2000" dirty="0"/>
              <a:t>① </a:t>
            </a:r>
            <a:r>
              <a:rPr lang="en-US" altLang="zh-CN" sz="2000" dirty="0" err="1"/>
              <a:t>按像素真值类别，把特征按类分组</a:t>
            </a:r>
            <a:endParaRPr lang="zh-CN" altLang="zh-CN" sz="2000" dirty="0"/>
          </a:p>
          <a:p>
            <a:pPr lvl="0"/>
            <a:r>
              <a:rPr lang="en-US" altLang="zh-CN" sz="2000" dirty="0"/>
              <a:t>② </a:t>
            </a:r>
            <a:r>
              <a:rPr lang="en-US" altLang="zh-CN" sz="2000" dirty="0" err="1"/>
              <a:t>算每类的平均特征</a:t>
            </a:r>
            <a:r>
              <a:rPr lang="en-US" altLang="zh-CN" sz="2000" dirty="0"/>
              <a:t> </a:t>
            </a:r>
            <a:r>
              <a:rPr lang="en-US" altLang="zh-CN" sz="2000" dirty="0" err="1"/>
              <a:t>M_类（如"车"这一类所有格子的平均向量</a:t>
            </a:r>
            <a:r>
              <a:rPr lang="en-US" altLang="zh-CN" sz="2000" dirty="0"/>
              <a:t>）</a:t>
            </a:r>
            <a:endParaRPr lang="zh-CN" altLang="zh-CN" sz="2000" dirty="0"/>
          </a:p>
          <a:p>
            <a:pPr lvl="0"/>
            <a:r>
              <a:rPr lang="en-US" altLang="zh-CN" sz="2000" dirty="0"/>
              <a:t>③ </a:t>
            </a:r>
            <a:r>
              <a:rPr lang="en-US" altLang="zh-CN" sz="2000" dirty="0" err="1"/>
              <a:t>把该类的每个特征往远离平均的方向拉开，公式</a:t>
            </a:r>
            <a:r>
              <a:rPr lang="en-US" altLang="zh-CN" sz="2000" dirty="0"/>
              <a:t> feature = </a:t>
            </a:r>
            <a:r>
              <a:rPr lang="en-US" altLang="zh-CN" sz="2000" dirty="0" err="1"/>
              <a:t>M_类</a:t>
            </a:r>
            <a:r>
              <a:rPr lang="en-US" altLang="zh-CN" sz="2000" dirty="0"/>
              <a:t> + ε×(feature − </a:t>
            </a:r>
            <a:r>
              <a:rPr lang="en-US" altLang="zh-CN" sz="2000" dirty="0" err="1"/>
              <a:t>M_类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6693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8D66C6-569B-A8A7-FE6A-4C06D115F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85" y="43030"/>
            <a:ext cx="10515600" cy="59402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1" dirty="0"/>
              <a:t>超参数设计：基本是靠默认的数据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29CF39-18AB-0D43-3960-5813310FF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95" y="437337"/>
            <a:ext cx="7434731" cy="609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312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3F5449-DC61-81AB-F7F0-3160E8448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454562" cy="75477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第二部分：推理阶段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185004-760C-5E66-338C-9F3E77CED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696" y="754773"/>
            <a:ext cx="10515600" cy="4351338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528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Microsoft Office PowerPoint</Application>
  <PresentationFormat>宽屏</PresentationFormat>
  <Paragraphs>48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最优方案全链条处理流程</vt:lpstr>
      <vt:lpstr>第一部分：训练阶段（训练出模型）</vt:lpstr>
      <vt:lpstr>PowerPoint 演示文稿</vt:lpstr>
      <vt:lpstr>PowerPoint 演示文稿</vt:lpstr>
      <vt:lpstr>PowerPoint 演示文稿</vt:lpstr>
      <vt:lpstr>第二部分：推理阶段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1828743874@qq.com</dc:creator>
  <cp:lastModifiedBy>1828743874@qq.com</cp:lastModifiedBy>
  <cp:revision>1</cp:revision>
  <dcterms:created xsi:type="dcterms:W3CDTF">2026-09-03T02:23:13Z</dcterms:created>
  <dcterms:modified xsi:type="dcterms:W3CDTF">2026-09-03T02:23:20Z</dcterms:modified>
</cp:coreProperties>
</file>